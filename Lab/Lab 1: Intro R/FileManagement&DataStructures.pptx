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6"/>
  </p:notesMasterIdLst>
  <p:sldIdLst>
    <p:sldId id="802" r:id="rId2"/>
    <p:sldId id="803" r:id="rId3"/>
    <p:sldId id="796" r:id="rId4"/>
    <p:sldId id="785" r:id="rId5"/>
    <p:sldId id="798" r:id="rId6"/>
    <p:sldId id="784" r:id="rId7"/>
    <p:sldId id="819" r:id="rId8"/>
    <p:sldId id="299" r:id="rId9"/>
    <p:sldId id="257" r:id="rId10"/>
    <p:sldId id="820" r:id="rId11"/>
    <p:sldId id="821" r:id="rId12"/>
    <p:sldId id="258" r:id="rId13"/>
    <p:sldId id="822" r:id="rId14"/>
    <p:sldId id="80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3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3220"/>
  </p:normalViewPr>
  <p:slideViewPr>
    <p:cSldViewPr snapToGrid="0" snapToObjects="1">
      <p:cViewPr varScale="1">
        <p:scale>
          <a:sx n="101" d="100"/>
          <a:sy n="101" d="100"/>
        </p:scale>
        <p:origin x="1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4C81F-A738-484C-A293-5F54B83FC1EA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E06ED-2273-404D-9FE5-3237E023B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9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README.txt</a:t>
            </a:r>
            <a:r>
              <a:rPr lang="en-US" dirty="0"/>
              <a:t> file is like metadata for your data!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EC65A-A5F1-D44D-AD93-E17F4B0B73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37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EC65A-A5F1-D44D-AD93-E17F4B0B73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88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EC65A-A5F1-D44D-AD93-E17F4B0B73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9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EC65A-A5F1-D44D-AD93-E17F4B0B73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784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EC65A-A5F1-D44D-AD93-E17F4B0B73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24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FAF52-9135-710E-02F0-749D993F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9BA7E-FBCC-443A-2F2B-F4686A57E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AC449-423E-03BA-0375-797A3EA37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6312A-04B4-E990-94B6-A3FD0C60B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EC65A-A5F1-D44D-AD93-E17F4B0B731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85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3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64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4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38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5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7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03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D4D1E-01F0-1C45-87E7-E72439AB6638}" type="datetimeFigureOut">
              <a:rPr lang="en-US" smtClean="0"/>
              <a:t>8/25/25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30B10-8ACD-BE45-AE2D-5AF122435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5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59B6B6-E478-344A-9249-B577D3B2373C}"/>
              </a:ext>
            </a:extLst>
          </p:cNvPr>
          <p:cNvSpPr/>
          <p:nvPr/>
        </p:nvSpPr>
        <p:spPr>
          <a:xfrm>
            <a:off x="296224" y="1142436"/>
            <a:ext cx="8045116" cy="490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Tips for naming and managing files:</a:t>
            </a:r>
          </a:p>
          <a:p>
            <a:pPr lvl="1">
              <a:spcAft>
                <a:spcPts val="600"/>
              </a:spcAft>
            </a:pP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Avoid spaces or non-alphanumeric characters,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with_the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exception_of_underscore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; names are case-sensitive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For easier reference, include version numbers or dates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Keep original raw data files in a safe place; don’t save over!!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Include a </a:t>
            </a:r>
            <a:r>
              <a:rPr lang="en-US" sz="2400" dirty="0" err="1"/>
              <a:t>README.txt</a:t>
            </a:r>
            <a:r>
              <a:rPr lang="en-US" sz="2400" dirty="0"/>
              <a:t> file in your “Data” and “</a:t>
            </a:r>
            <a:r>
              <a:rPr lang="en-US" sz="2400" dirty="0" err="1"/>
              <a:t>Rcode</a:t>
            </a:r>
            <a:r>
              <a:rPr lang="en-US" sz="2400" dirty="0"/>
              <a:t>” folders to remind you what different datafiles contain, e.g., especially after being cleaned and manipulated, and/or tasks performed by different R codes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				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You 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will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forget!!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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4334B-9AED-254F-AA52-EC9D8B9E837E}"/>
              </a:ext>
            </a:extLst>
          </p:cNvPr>
          <p:cNvSpPr txBox="1"/>
          <p:nvPr/>
        </p:nvSpPr>
        <p:spPr>
          <a:xfrm>
            <a:off x="178420" y="263091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352631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34867-749C-F841-969A-0ABF53F28AB9}"/>
              </a:ext>
            </a:extLst>
          </p:cNvPr>
          <p:cNvSpPr txBox="1"/>
          <p:nvPr/>
        </p:nvSpPr>
        <p:spPr>
          <a:xfrm>
            <a:off x="296224" y="1032413"/>
            <a:ext cx="8635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bg2">
                  <a:lumMod val="2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9B6B6-E478-344A-9249-B577D3B2373C}"/>
              </a:ext>
            </a:extLst>
          </p:cNvPr>
          <p:cNvSpPr/>
          <p:nvPr/>
        </p:nvSpPr>
        <p:spPr>
          <a:xfrm>
            <a:off x="549442" y="1213008"/>
            <a:ext cx="8045116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NOTE: Where you store your data &amp; and affiliated files may depend on: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1. The </a:t>
            </a: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the file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(a 3 KB text file vs 3 MB sound file vs 3 GB database vs 2 TB video file)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		1 byte * 1024 = 1 KB * 1024 = 1 MB * 1024 = 1 GB * 1024 = 1 TB</a:t>
            </a: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2. The </a:t>
            </a:r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sensitivity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of the data</a:t>
            </a:r>
          </a:p>
          <a:p>
            <a:pPr lvl="1"/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	- Are there security issues?</a:t>
            </a:r>
          </a:p>
          <a:p>
            <a:pPr lvl="1"/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	- Consider password protected folders or file-formats that protect personally-identifiable information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4C130-150A-1741-8537-24DDA82A4F8A}"/>
              </a:ext>
            </a:extLst>
          </p:cNvPr>
          <p:cNvSpPr txBox="1"/>
          <p:nvPr/>
        </p:nvSpPr>
        <p:spPr>
          <a:xfrm>
            <a:off x="178420" y="263091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219246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071B695-E64A-3947-94D3-5E10B1D1E9CE}"/>
              </a:ext>
            </a:extLst>
          </p:cNvPr>
          <p:cNvSpPr txBox="1"/>
          <p:nvPr/>
        </p:nvSpPr>
        <p:spPr>
          <a:xfrm>
            <a:off x="178420" y="263091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File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9B6B6-E478-344A-9249-B577D3B2373C}"/>
              </a:ext>
            </a:extLst>
          </p:cNvPr>
          <p:cNvSpPr/>
          <p:nvPr/>
        </p:nvSpPr>
        <p:spPr>
          <a:xfrm>
            <a:off x="296224" y="1142436"/>
            <a:ext cx="8045116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Keeping in mind the “Tree” folder structure</a:t>
            </a:r>
          </a:p>
          <a:p>
            <a:pPr>
              <a:spcAft>
                <a:spcPts val="600"/>
              </a:spcAft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Where on your computer are you storing </a:t>
            </a:r>
            <a:r>
              <a:rPr lang="en-US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files for this course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Where are you storing your </a:t>
            </a:r>
            <a:r>
              <a:rPr lang="en-US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R scripts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Where are you storing </a:t>
            </a:r>
            <a:r>
              <a:rPr lang="en-US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data you collect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data you download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(e.g., raw data files)?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Where do you intend to store any </a:t>
            </a:r>
            <a:r>
              <a:rPr lang="en-US" sz="2400" i="1" u="sng" dirty="0">
                <a:latin typeface="Calibri" panose="020F0502020204030204" pitchFamily="34" charset="0"/>
                <a:cs typeface="Calibri" panose="020F0502020204030204" pitchFamily="34" charset="0"/>
              </a:rPr>
              <a:t>data you have cleaned &amp; manipulated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for a given assignment or project?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13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071B695-E64A-3947-94D3-5E10B1D1E9CE}"/>
              </a:ext>
            </a:extLst>
          </p:cNvPr>
          <p:cNvSpPr txBox="1"/>
          <p:nvPr/>
        </p:nvSpPr>
        <p:spPr>
          <a:xfrm>
            <a:off x="178420" y="263091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File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9B6B6-E478-344A-9249-B577D3B2373C}"/>
              </a:ext>
            </a:extLst>
          </p:cNvPr>
          <p:cNvSpPr/>
          <p:nvPr/>
        </p:nvSpPr>
        <p:spPr>
          <a:xfrm>
            <a:off x="296224" y="1142436"/>
            <a:ext cx="8045116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When organizing a collection of files…</a:t>
            </a:r>
          </a:p>
          <a:p>
            <a:pPr>
              <a:spcAft>
                <a:spcPts val="600"/>
              </a:spcAft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Can you come up with a logical grouping mechanism?</a:t>
            </a:r>
          </a:p>
          <a:p>
            <a:pPr marL="16573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By category?</a:t>
            </a:r>
          </a:p>
          <a:p>
            <a:pPr marL="16573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By file type?</a:t>
            </a:r>
          </a:p>
          <a:p>
            <a:pPr marL="16573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By time?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11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D34867-749C-F841-969A-0ABF53F28AB9}"/>
              </a:ext>
            </a:extLst>
          </p:cNvPr>
          <p:cNvSpPr txBox="1"/>
          <p:nvPr/>
        </p:nvSpPr>
        <p:spPr>
          <a:xfrm>
            <a:off x="296224" y="1032413"/>
            <a:ext cx="8635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solidFill>
                <a:schemeClr val="bg2">
                  <a:lumMod val="25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1B695-E64A-3947-94D3-5E10B1D1E9CE}"/>
              </a:ext>
            </a:extLst>
          </p:cNvPr>
          <p:cNvSpPr txBox="1"/>
          <p:nvPr/>
        </p:nvSpPr>
        <p:spPr>
          <a:xfrm>
            <a:off x="178420" y="263091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File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9B6B6-E478-344A-9249-B577D3B2373C}"/>
              </a:ext>
            </a:extLst>
          </p:cNvPr>
          <p:cNvSpPr/>
          <p:nvPr/>
        </p:nvSpPr>
        <p:spPr>
          <a:xfrm>
            <a:off x="296224" y="1142436"/>
            <a:ext cx="804511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 Folder structure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Documents / Fall2025 / courses / BIO456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/ Labs / Lab1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Documents / Fall2025 / courses / BIO456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/ Projects / Project1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						vs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Documents / Fall2025 / courses / BIO456 / Projects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/ Project1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Documents / Fall2025 / courses / BIO456 / Labs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/ Lab1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						vs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Documents / courses / Fall2025 / BIO456 / Labs /Week2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Rcode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	Documents / courses / Fall2025 / BIO456 / Lectures / Week2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				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15C4C4B-BBED-7441-9C83-2B40BF4FC59A}"/>
              </a:ext>
            </a:extLst>
          </p:cNvPr>
          <p:cNvSpPr/>
          <p:nvPr/>
        </p:nvSpPr>
        <p:spPr>
          <a:xfrm>
            <a:off x="5055326" y="3267454"/>
            <a:ext cx="1946364" cy="352697"/>
          </a:xfrm>
          <a:prstGeom prst="ellipse">
            <a:avLst/>
          </a:prstGeom>
          <a:noFill/>
          <a:ln w="222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94C06F-6ECF-0344-864D-36A8AFD2F848}"/>
              </a:ext>
            </a:extLst>
          </p:cNvPr>
          <p:cNvCxnSpPr>
            <a:cxnSpLocks/>
          </p:cNvCxnSpPr>
          <p:nvPr/>
        </p:nvCxnSpPr>
        <p:spPr>
          <a:xfrm flipV="1">
            <a:off x="3533504" y="3574433"/>
            <a:ext cx="1809204" cy="195688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5BDFAF4-29E3-3449-AD06-41A52B3FEAA2}"/>
              </a:ext>
            </a:extLst>
          </p:cNvPr>
          <p:cNvSpPr/>
          <p:nvPr/>
        </p:nvSpPr>
        <p:spPr>
          <a:xfrm>
            <a:off x="5055326" y="2373085"/>
            <a:ext cx="1214845" cy="352697"/>
          </a:xfrm>
          <a:prstGeom prst="ellipse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988830-0838-7B4C-A6AB-ADD6BB0DA383}"/>
              </a:ext>
            </a:extLst>
          </p:cNvPr>
          <p:cNvCxnSpPr>
            <a:cxnSpLocks/>
          </p:cNvCxnSpPr>
          <p:nvPr/>
        </p:nvCxnSpPr>
        <p:spPr>
          <a:xfrm flipV="1">
            <a:off x="1527175" y="2680065"/>
            <a:ext cx="3815533" cy="2692754"/>
          </a:xfrm>
          <a:prstGeom prst="straightConnector1">
            <a:avLst/>
          </a:prstGeom>
          <a:ln w="25400">
            <a:solidFill>
              <a:srgbClr val="55237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515D3B5-175A-764E-8CDF-9BD98565028A}"/>
              </a:ext>
            </a:extLst>
          </p:cNvPr>
          <p:cNvSpPr/>
          <p:nvPr/>
        </p:nvSpPr>
        <p:spPr>
          <a:xfrm>
            <a:off x="5626527" y="3859452"/>
            <a:ext cx="1201074" cy="352697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7C7715-E765-694F-BD53-9DDCEFAF5556}"/>
              </a:ext>
            </a:extLst>
          </p:cNvPr>
          <p:cNvCxnSpPr>
            <a:cxnSpLocks/>
          </p:cNvCxnSpPr>
          <p:nvPr/>
        </p:nvCxnSpPr>
        <p:spPr>
          <a:xfrm flipH="1" flipV="1">
            <a:off x="6270171" y="4212149"/>
            <a:ext cx="902207" cy="78271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263CBC1-2E3A-1E41-95EC-4E897D28D014}"/>
              </a:ext>
            </a:extLst>
          </p:cNvPr>
          <p:cNvSpPr/>
          <p:nvPr/>
        </p:nvSpPr>
        <p:spPr>
          <a:xfrm>
            <a:off x="3052300" y="3835068"/>
            <a:ext cx="1375220" cy="352697"/>
          </a:xfrm>
          <a:prstGeom prst="ellipse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D2E3E6-C0A4-874F-A202-E1721D8B56C5}"/>
              </a:ext>
            </a:extLst>
          </p:cNvPr>
          <p:cNvCxnSpPr>
            <a:cxnSpLocks/>
          </p:cNvCxnSpPr>
          <p:nvPr/>
        </p:nvCxnSpPr>
        <p:spPr>
          <a:xfrm flipH="1" flipV="1">
            <a:off x="3911456" y="4187765"/>
            <a:ext cx="2945761" cy="80261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F38DDD3-62DC-9A43-AFED-8435F90C911C}"/>
              </a:ext>
            </a:extLst>
          </p:cNvPr>
          <p:cNvSpPr txBox="1"/>
          <p:nvPr/>
        </p:nvSpPr>
        <p:spPr>
          <a:xfrm>
            <a:off x="1005478" y="5282060"/>
            <a:ext cx="1200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552379"/>
                </a:solidFill>
              </a:rPr>
              <a:t>file type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D955A4-DA71-4844-9925-16B1273505F7}"/>
              </a:ext>
            </a:extLst>
          </p:cNvPr>
          <p:cNvSpPr txBox="1"/>
          <p:nvPr/>
        </p:nvSpPr>
        <p:spPr>
          <a:xfrm>
            <a:off x="2990433" y="5452748"/>
            <a:ext cx="1262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category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D9CDC2-D3DB-3449-81D6-F0505C292E1F}"/>
              </a:ext>
            </a:extLst>
          </p:cNvPr>
          <p:cNvSpPr txBox="1"/>
          <p:nvPr/>
        </p:nvSpPr>
        <p:spPr>
          <a:xfrm>
            <a:off x="6758803" y="5001644"/>
            <a:ext cx="982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83310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6" grpId="0" animBg="1"/>
      <p:bldP spid="22" grpId="0" animBg="1"/>
      <p:bldP spid="30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3B03DF-C5C8-39EF-9192-D7E97110CA73}"/>
              </a:ext>
            </a:extLst>
          </p:cNvPr>
          <p:cNvSpPr/>
          <p:nvPr/>
        </p:nvSpPr>
        <p:spPr>
          <a:xfrm>
            <a:off x="296224" y="1142436"/>
            <a:ext cx="80451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Can you help your lost &amp; confused classmate organize their files on their computer???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DB75CD-CF86-E74C-B471-AE5F5FA97A6D}"/>
              </a:ext>
            </a:extLst>
          </p:cNvPr>
          <p:cNvSpPr txBox="1"/>
          <p:nvPr/>
        </p:nvSpPr>
        <p:spPr>
          <a:xfrm>
            <a:off x="6491804" y="2705916"/>
            <a:ext cx="2272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Rcode_Assignment1.R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6056A2-C15F-D24C-AADF-ABDBC34A9E18}"/>
              </a:ext>
            </a:extLst>
          </p:cNvPr>
          <p:cNvSpPr txBox="1"/>
          <p:nvPr/>
        </p:nvSpPr>
        <p:spPr>
          <a:xfrm>
            <a:off x="320485" y="2025144"/>
            <a:ext cx="269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Assignmnent1RawData.csv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CD9114-AB8C-494B-85F9-CA15A03EA53B}"/>
              </a:ext>
            </a:extLst>
          </p:cNvPr>
          <p:cNvSpPr txBox="1"/>
          <p:nvPr/>
        </p:nvSpPr>
        <p:spPr>
          <a:xfrm>
            <a:off x="6491804" y="3083613"/>
            <a:ext cx="238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Rcode1_Assignment2.R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0134FEA-A658-E845-B01A-44E89C902FFB}"/>
              </a:ext>
            </a:extLst>
          </p:cNvPr>
          <p:cNvSpPr txBox="1"/>
          <p:nvPr/>
        </p:nvSpPr>
        <p:spPr>
          <a:xfrm>
            <a:off x="306180" y="3466526"/>
            <a:ext cx="258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FinalProjectRawData1.csv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9EFF6E-F7E1-5B4B-B250-96B1C9BB3D49}"/>
              </a:ext>
            </a:extLst>
          </p:cNvPr>
          <p:cNvSpPr txBox="1"/>
          <p:nvPr/>
        </p:nvSpPr>
        <p:spPr>
          <a:xfrm>
            <a:off x="6498589" y="3762005"/>
            <a:ext cx="238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Rcode2_Assignment2.R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577467-D23A-6844-B925-C9017307524D}"/>
              </a:ext>
            </a:extLst>
          </p:cNvPr>
          <p:cNvSpPr txBox="1"/>
          <p:nvPr/>
        </p:nvSpPr>
        <p:spPr>
          <a:xfrm>
            <a:off x="3422375" y="2283202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InClassEx_1.R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6682E07-EF60-1444-A5BC-64FD4A8FDC70}"/>
              </a:ext>
            </a:extLst>
          </p:cNvPr>
          <p:cNvSpPr txBox="1"/>
          <p:nvPr/>
        </p:nvSpPr>
        <p:spPr>
          <a:xfrm>
            <a:off x="3373495" y="3383380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InClassEx_2.R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7E0388-8B2D-E84A-961C-7119891B811F}"/>
              </a:ext>
            </a:extLst>
          </p:cNvPr>
          <p:cNvSpPr txBox="1"/>
          <p:nvPr/>
        </p:nvSpPr>
        <p:spPr>
          <a:xfrm>
            <a:off x="6498589" y="2323568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InClassEx_3.R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DC41D0-5776-A543-BBA7-C44F60643C5B}"/>
              </a:ext>
            </a:extLst>
          </p:cNvPr>
          <p:cNvSpPr txBox="1"/>
          <p:nvPr/>
        </p:nvSpPr>
        <p:spPr>
          <a:xfrm>
            <a:off x="3368903" y="3726727"/>
            <a:ext cx="2498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InClassEx_2_rawdata.csv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6A95F9-8F9F-0A41-BBC1-824ACB62549B}"/>
              </a:ext>
            </a:extLst>
          </p:cNvPr>
          <p:cNvSpPr txBox="1"/>
          <p:nvPr/>
        </p:nvSpPr>
        <p:spPr>
          <a:xfrm>
            <a:off x="3422375" y="1959582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InClassEx_1_barplot.jpg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188F86-F281-5947-BF54-80725AFCAF52}"/>
              </a:ext>
            </a:extLst>
          </p:cNvPr>
          <p:cNvSpPr txBox="1"/>
          <p:nvPr/>
        </p:nvSpPr>
        <p:spPr>
          <a:xfrm>
            <a:off x="6491804" y="1956070"/>
            <a:ext cx="2744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InClassEx_2_scatterplot.jpg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975FA9-AB78-D741-B8C2-B1B402B8519A}"/>
              </a:ext>
            </a:extLst>
          </p:cNvPr>
          <p:cNvSpPr txBox="1"/>
          <p:nvPr/>
        </p:nvSpPr>
        <p:spPr>
          <a:xfrm>
            <a:off x="3392668" y="2986295"/>
            <a:ext cx="2498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InClassEx_1_rawdata.csv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5C4388-BCD7-F948-9056-57EC1F63B2A9}"/>
              </a:ext>
            </a:extLst>
          </p:cNvPr>
          <p:cNvSpPr txBox="1"/>
          <p:nvPr/>
        </p:nvSpPr>
        <p:spPr>
          <a:xfrm>
            <a:off x="3414757" y="2639056"/>
            <a:ext cx="2886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InClassEx_1_cleaneddata.csv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60F632A-C137-BE4B-B9CA-FB3C702C100C}"/>
              </a:ext>
            </a:extLst>
          </p:cNvPr>
          <p:cNvSpPr txBox="1"/>
          <p:nvPr/>
        </p:nvSpPr>
        <p:spPr>
          <a:xfrm>
            <a:off x="321520" y="2385562"/>
            <a:ext cx="26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Assignment2_barplot.png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AEA131-C604-3140-AF5F-AFBDFD91A5F0}"/>
              </a:ext>
            </a:extLst>
          </p:cNvPr>
          <p:cNvSpPr txBox="1"/>
          <p:nvPr/>
        </p:nvSpPr>
        <p:spPr>
          <a:xfrm>
            <a:off x="320485" y="2730190"/>
            <a:ext cx="280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Assignment2_linegraph.png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CDF1074-94B9-2745-871D-15C72AB48BA5}"/>
              </a:ext>
            </a:extLst>
          </p:cNvPr>
          <p:cNvSpPr txBox="1"/>
          <p:nvPr/>
        </p:nvSpPr>
        <p:spPr>
          <a:xfrm>
            <a:off x="325890" y="3838608"/>
            <a:ext cx="258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FinalProjectRawData2.csv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7593E4-A758-9243-8140-2976C4CD6A7C}"/>
              </a:ext>
            </a:extLst>
          </p:cNvPr>
          <p:cNvSpPr txBox="1"/>
          <p:nvPr/>
        </p:nvSpPr>
        <p:spPr>
          <a:xfrm>
            <a:off x="6491804" y="3406696"/>
            <a:ext cx="218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Rode1_FinalProject.R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31AB3E-BB5F-AF4B-A410-3642E9BE74D4}"/>
              </a:ext>
            </a:extLst>
          </p:cNvPr>
          <p:cNvSpPr txBox="1"/>
          <p:nvPr/>
        </p:nvSpPr>
        <p:spPr>
          <a:xfrm>
            <a:off x="312469" y="3091534"/>
            <a:ext cx="2713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FinalProjectCleanData1.csv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0E42145-4EB2-9540-BF04-42030B343906}"/>
              </a:ext>
            </a:extLst>
          </p:cNvPr>
          <p:cNvGrpSpPr/>
          <p:nvPr/>
        </p:nvGrpSpPr>
        <p:grpSpPr>
          <a:xfrm>
            <a:off x="3608748" y="5690672"/>
            <a:ext cx="1790024" cy="1134028"/>
            <a:chOff x="556570" y="5315830"/>
            <a:chExt cx="1790024" cy="113402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EDC866D-3C48-FF4E-9118-ED9B6582FED3}"/>
                </a:ext>
              </a:extLst>
            </p:cNvPr>
            <p:cNvSpPr/>
            <p:nvPr/>
          </p:nvSpPr>
          <p:spPr>
            <a:xfrm>
              <a:off x="556570" y="5315830"/>
              <a:ext cx="1790024" cy="11340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376DC89-2A2B-984E-A172-4057B51B2B22}"/>
                </a:ext>
              </a:extLst>
            </p:cNvPr>
            <p:cNvSpPr txBox="1"/>
            <p:nvPr/>
          </p:nvSpPr>
          <p:spPr>
            <a:xfrm>
              <a:off x="679347" y="5698178"/>
              <a:ext cx="15145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Name of drive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A50108B-75BD-8449-8746-1B7B36B4236A}"/>
              </a:ext>
            </a:extLst>
          </p:cNvPr>
          <p:cNvSpPr txBox="1"/>
          <p:nvPr/>
        </p:nvSpPr>
        <p:spPr>
          <a:xfrm>
            <a:off x="172844" y="374614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Activity 1: 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3743580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81259-E07E-C180-59A6-B3D65492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F021C86A-DBA5-6D56-1ACA-DB91B0E22A07}"/>
              </a:ext>
            </a:extLst>
          </p:cNvPr>
          <p:cNvSpPr txBox="1"/>
          <p:nvPr/>
        </p:nvSpPr>
        <p:spPr>
          <a:xfrm>
            <a:off x="6491804" y="2705916"/>
            <a:ext cx="2272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Rcode_Assignment1.R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0B490C-1CBB-9B54-C4BD-CCAD2EE019E9}"/>
              </a:ext>
            </a:extLst>
          </p:cNvPr>
          <p:cNvSpPr txBox="1"/>
          <p:nvPr/>
        </p:nvSpPr>
        <p:spPr>
          <a:xfrm>
            <a:off x="320485" y="2025144"/>
            <a:ext cx="269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Assignmnent1RawData.csv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E1A101-55B6-0823-AB0F-62C4FA465F79}"/>
              </a:ext>
            </a:extLst>
          </p:cNvPr>
          <p:cNvSpPr txBox="1"/>
          <p:nvPr/>
        </p:nvSpPr>
        <p:spPr>
          <a:xfrm>
            <a:off x="6491804" y="3083613"/>
            <a:ext cx="238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Rcode1_Assignment2.R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DB740A4-30C9-53E5-3CD9-BB39EA026DC5}"/>
              </a:ext>
            </a:extLst>
          </p:cNvPr>
          <p:cNvSpPr txBox="1"/>
          <p:nvPr/>
        </p:nvSpPr>
        <p:spPr>
          <a:xfrm>
            <a:off x="306180" y="3466526"/>
            <a:ext cx="258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FinalProjectRawData1.csv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7D5F15-D522-EAAE-13A0-D5359FA1AAB7}"/>
              </a:ext>
            </a:extLst>
          </p:cNvPr>
          <p:cNvSpPr txBox="1"/>
          <p:nvPr/>
        </p:nvSpPr>
        <p:spPr>
          <a:xfrm>
            <a:off x="6498589" y="3762005"/>
            <a:ext cx="238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Rcode2_Assignment2.R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0FE6A8-E81F-6293-9DC0-069D4906DE59}"/>
              </a:ext>
            </a:extLst>
          </p:cNvPr>
          <p:cNvSpPr txBox="1"/>
          <p:nvPr/>
        </p:nvSpPr>
        <p:spPr>
          <a:xfrm>
            <a:off x="3422375" y="2283202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InClassEx_1.R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435DE3-DA78-9702-A217-E613E1E019D3}"/>
              </a:ext>
            </a:extLst>
          </p:cNvPr>
          <p:cNvSpPr txBox="1"/>
          <p:nvPr/>
        </p:nvSpPr>
        <p:spPr>
          <a:xfrm>
            <a:off x="3373495" y="3383380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InClassEx_2.R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4B49CB-00C7-367D-1D07-20E88299B7C6}"/>
              </a:ext>
            </a:extLst>
          </p:cNvPr>
          <p:cNvSpPr txBox="1"/>
          <p:nvPr/>
        </p:nvSpPr>
        <p:spPr>
          <a:xfrm>
            <a:off x="6498589" y="2323568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InClassEx_3.R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D38266-450D-8127-8A8F-32C3E8947A5E}"/>
              </a:ext>
            </a:extLst>
          </p:cNvPr>
          <p:cNvSpPr txBox="1"/>
          <p:nvPr/>
        </p:nvSpPr>
        <p:spPr>
          <a:xfrm>
            <a:off x="3368903" y="3726727"/>
            <a:ext cx="2498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InClassEx_2_rawdata.csv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E8C101-8CB4-9439-9B68-F212867512E5}"/>
              </a:ext>
            </a:extLst>
          </p:cNvPr>
          <p:cNvSpPr txBox="1"/>
          <p:nvPr/>
        </p:nvSpPr>
        <p:spPr>
          <a:xfrm>
            <a:off x="3422375" y="1959582"/>
            <a:ext cx="241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InClassEx_1_barplot.jpg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2FA4892-9243-7F48-3641-D490C3656D89}"/>
              </a:ext>
            </a:extLst>
          </p:cNvPr>
          <p:cNvSpPr txBox="1"/>
          <p:nvPr/>
        </p:nvSpPr>
        <p:spPr>
          <a:xfrm>
            <a:off x="6491804" y="1956070"/>
            <a:ext cx="2744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InClassEx_2_scatterplot.jpg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A08D15-E07F-60AE-35CD-676AE8E590A2}"/>
              </a:ext>
            </a:extLst>
          </p:cNvPr>
          <p:cNvSpPr txBox="1"/>
          <p:nvPr/>
        </p:nvSpPr>
        <p:spPr>
          <a:xfrm>
            <a:off x="3392668" y="2986295"/>
            <a:ext cx="2498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InClassEx_1_rawdata.csv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078BCB-AA2E-9FA0-8BD4-E43C8C18327D}"/>
              </a:ext>
            </a:extLst>
          </p:cNvPr>
          <p:cNvSpPr txBox="1"/>
          <p:nvPr/>
        </p:nvSpPr>
        <p:spPr>
          <a:xfrm>
            <a:off x="3414757" y="2639056"/>
            <a:ext cx="2886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InClassEx_1_cleaneddata.csv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A25CE4-AB3F-EEEB-BB6B-37DF8C21277E}"/>
              </a:ext>
            </a:extLst>
          </p:cNvPr>
          <p:cNvSpPr txBox="1"/>
          <p:nvPr/>
        </p:nvSpPr>
        <p:spPr>
          <a:xfrm>
            <a:off x="321520" y="2385562"/>
            <a:ext cx="26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Assignment2_barplot.png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4A1A6B-3806-CD62-97B3-B306C289C34A}"/>
              </a:ext>
            </a:extLst>
          </p:cNvPr>
          <p:cNvSpPr txBox="1"/>
          <p:nvPr/>
        </p:nvSpPr>
        <p:spPr>
          <a:xfrm>
            <a:off x="320485" y="2730190"/>
            <a:ext cx="2801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Assignment2_linegraph.png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77B78E-C472-A86C-F966-569F1B9C8621}"/>
              </a:ext>
            </a:extLst>
          </p:cNvPr>
          <p:cNvSpPr txBox="1"/>
          <p:nvPr/>
        </p:nvSpPr>
        <p:spPr>
          <a:xfrm>
            <a:off x="325890" y="3838608"/>
            <a:ext cx="258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FinalProjectRawData2.csv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C4CDDCE-41EB-FA7A-9101-808FD762123C}"/>
              </a:ext>
            </a:extLst>
          </p:cNvPr>
          <p:cNvSpPr txBox="1"/>
          <p:nvPr/>
        </p:nvSpPr>
        <p:spPr>
          <a:xfrm>
            <a:off x="6491804" y="3406696"/>
            <a:ext cx="2184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Rode1_FinalProject.R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908A46-A237-C694-DE5E-4F046F72BDB8}"/>
              </a:ext>
            </a:extLst>
          </p:cNvPr>
          <p:cNvSpPr txBox="1"/>
          <p:nvPr/>
        </p:nvSpPr>
        <p:spPr>
          <a:xfrm>
            <a:off x="312469" y="3091534"/>
            <a:ext cx="2713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FinalProjectCleanData1.csv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81DBCF1-2B31-6AD3-A6C1-2F8BCEF3790C}"/>
              </a:ext>
            </a:extLst>
          </p:cNvPr>
          <p:cNvGrpSpPr/>
          <p:nvPr/>
        </p:nvGrpSpPr>
        <p:grpSpPr>
          <a:xfrm>
            <a:off x="3608748" y="5690672"/>
            <a:ext cx="1790024" cy="1134028"/>
            <a:chOff x="556570" y="5315830"/>
            <a:chExt cx="1790024" cy="113402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4ABC063-6978-D3A8-37B4-497394733A49}"/>
                </a:ext>
              </a:extLst>
            </p:cNvPr>
            <p:cNvSpPr/>
            <p:nvPr/>
          </p:nvSpPr>
          <p:spPr>
            <a:xfrm>
              <a:off x="556570" y="5315830"/>
              <a:ext cx="1790024" cy="11340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9FE3CBE-0C2C-2EEF-3017-5C9477CCD4DA}"/>
                </a:ext>
              </a:extLst>
            </p:cNvPr>
            <p:cNvSpPr txBox="1"/>
            <p:nvPr/>
          </p:nvSpPr>
          <p:spPr>
            <a:xfrm>
              <a:off x="679347" y="5698178"/>
              <a:ext cx="15145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Name of drive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C5DCA28-C93A-A7F9-7A37-D79B5ED03B6E}"/>
              </a:ext>
            </a:extLst>
          </p:cNvPr>
          <p:cNvGrpSpPr/>
          <p:nvPr/>
        </p:nvGrpSpPr>
        <p:grpSpPr>
          <a:xfrm>
            <a:off x="2267140" y="4287233"/>
            <a:ext cx="1790024" cy="1134028"/>
            <a:chOff x="556570" y="5315830"/>
            <a:chExt cx="1790024" cy="113402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18419E3-EC97-60AD-C7B5-1AED4191C759}"/>
                </a:ext>
              </a:extLst>
            </p:cNvPr>
            <p:cNvSpPr/>
            <p:nvPr/>
          </p:nvSpPr>
          <p:spPr>
            <a:xfrm>
              <a:off x="556570" y="5315830"/>
              <a:ext cx="1790024" cy="11340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2EAA9C1-B6E4-D538-3C4A-A6EAFC604F24}"/>
                </a:ext>
              </a:extLst>
            </p:cNvPr>
            <p:cNvSpPr txBox="1"/>
            <p:nvPr/>
          </p:nvSpPr>
          <p:spPr>
            <a:xfrm>
              <a:off x="764902" y="5698178"/>
              <a:ext cx="1454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Folder_Name</a:t>
              </a:r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89C88B9-8153-2DC7-3C5F-2844EB0437C4}"/>
              </a:ext>
            </a:extLst>
          </p:cNvPr>
          <p:cNvGrpSpPr/>
          <p:nvPr/>
        </p:nvGrpSpPr>
        <p:grpSpPr>
          <a:xfrm>
            <a:off x="5072430" y="4308478"/>
            <a:ext cx="1790024" cy="1134028"/>
            <a:chOff x="556570" y="5315830"/>
            <a:chExt cx="1790024" cy="113402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76103EF-BE60-528D-C9AB-139ADBEABE2D}"/>
                </a:ext>
              </a:extLst>
            </p:cNvPr>
            <p:cNvSpPr/>
            <p:nvPr/>
          </p:nvSpPr>
          <p:spPr>
            <a:xfrm>
              <a:off x="556570" y="5315830"/>
              <a:ext cx="1790024" cy="113402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2703A4D-ED7C-8839-F9CB-CBE2A3A534E7}"/>
                </a:ext>
              </a:extLst>
            </p:cNvPr>
            <p:cNvSpPr txBox="1"/>
            <p:nvPr/>
          </p:nvSpPr>
          <p:spPr>
            <a:xfrm>
              <a:off x="730182" y="5698178"/>
              <a:ext cx="1454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Folder_Name</a:t>
              </a:r>
              <a:endParaRPr lang="en-US" dirty="0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C0C2291-6100-EC0F-BE5A-4E0D81967EE7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5398772" y="5442506"/>
            <a:ext cx="568670" cy="26941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F568C7A-EEA8-6D7C-1ABE-11580B2B32E0}"/>
              </a:ext>
            </a:extLst>
          </p:cNvPr>
          <p:cNvCxnSpPr>
            <a:cxnSpLocks/>
            <a:endCxn id="42" idx="2"/>
          </p:cNvCxnSpPr>
          <p:nvPr/>
        </p:nvCxnSpPr>
        <p:spPr>
          <a:xfrm flipH="1" flipV="1">
            <a:off x="3162152" y="5421261"/>
            <a:ext cx="446596" cy="269411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1127D7D6-DD3E-CCCF-5FF5-F9B325E60CF1}"/>
              </a:ext>
            </a:extLst>
          </p:cNvPr>
          <p:cNvSpPr/>
          <p:nvPr/>
        </p:nvSpPr>
        <p:spPr>
          <a:xfrm>
            <a:off x="296224" y="1142436"/>
            <a:ext cx="80451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Think about how you might organize the files into folders…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F61089-927C-9999-B7A4-E7A8AAFD7481}"/>
              </a:ext>
            </a:extLst>
          </p:cNvPr>
          <p:cNvSpPr txBox="1"/>
          <p:nvPr/>
        </p:nvSpPr>
        <p:spPr>
          <a:xfrm>
            <a:off x="172844" y="374614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Activity 1: File Management</a:t>
            </a:r>
          </a:p>
        </p:txBody>
      </p:sp>
    </p:spTree>
    <p:extLst>
      <p:ext uri="{BB962C8B-B14F-4D97-AF65-F5344CB8AC3E}">
        <p14:creationId xmlns:p14="http://schemas.microsoft.com/office/powerpoint/2010/main" val="2562111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D9CE-BAD3-9A9D-3DA8-245F6D7B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700" dirty="0"/>
              <a:t>What are data?</a:t>
            </a:r>
            <a:br>
              <a:rPr lang="en-US" sz="2700" dirty="0"/>
            </a:br>
            <a:r>
              <a:rPr lang="en-US" sz="2700" dirty="0"/>
              <a:t>Data types </a:t>
            </a:r>
            <a:r>
              <a:rPr lang="en-US" sz="2700" dirty="0">
                <a:highlight>
                  <a:srgbClr val="FFFF00"/>
                </a:highlight>
              </a:rPr>
              <a:t>(in statistics)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C9112-3A77-4D8D-0440-5C1A04E5596E}"/>
              </a:ext>
            </a:extLst>
          </p:cNvPr>
          <p:cNvSpPr txBox="1"/>
          <p:nvPr/>
        </p:nvSpPr>
        <p:spPr>
          <a:xfrm>
            <a:off x="1750548" y="2194384"/>
            <a:ext cx="1579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Categorical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5C364-BFFE-50DE-6BC1-8D2769610CCC}"/>
              </a:ext>
            </a:extLst>
          </p:cNvPr>
          <p:cNvSpPr txBox="1"/>
          <p:nvPr/>
        </p:nvSpPr>
        <p:spPr>
          <a:xfrm>
            <a:off x="5459824" y="2194384"/>
            <a:ext cx="187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Numerical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2F119-3BDF-EA66-E518-F228618F0A4D}"/>
              </a:ext>
            </a:extLst>
          </p:cNvPr>
          <p:cNvSpPr txBox="1"/>
          <p:nvPr/>
        </p:nvSpPr>
        <p:spPr>
          <a:xfrm>
            <a:off x="914974" y="2960521"/>
            <a:ext cx="1489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Nominal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91BF7-47BB-7CD4-DC02-CFD0FA785821}"/>
              </a:ext>
            </a:extLst>
          </p:cNvPr>
          <p:cNvSpPr txBox="1"/>
          <p:nvPr/>
        </p:nvSpPr>
        <p:spPr>
          <a:xfrm>
            <a:off x="2701393" y="2960521"/>
            <a:ext cx="1489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Ordinal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4C92C4-6C20-6CD2-217A-82D48B85E221}"/>
              </a:ext>
            </a:extLst>
          </p:cNvPr>
          <p:cNvCxnSpPr>
            <a:cxnSpLocks/>
          </p:cNvCxnSpPr>
          <p:nvPr/>
        </p:nvCxnSpPr>
        <p:spPr>
          <a:xfrm flipH="1">
            <a:off x="1726059" y="2659962"/>
            <a:ext cx="508571" cy="257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04549F-C054-BEA2-4E8B-4B5F64AEBF9F}"/>
              </a:ext>
            </a:extLst>
          </p:cNvPr>
          <p:cNvCxnSpPr>
            <a:cxnSpLocks/>
          </p:cNvCxnSpPr>
          <p:nvPr/>
        </p:nvCxnSpPr>
        <p:spPr>
          <a:xfrm>
            <a:off x="2720083" y="2659962"/>
            <a:ext cx="502238" cy="257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CA1B32-AC8F-18A0-74C4-B56596DB1DE2}"/>
              </a:ext>
            </a:extLst>
          </p:cNvPr>
          <p:cNvSpPr txBox="1"/>
          <p:nvPr/>
        </p:nvSpPr>
        <p:spPr>
          <a:xfrm>
            <a:off x="4487812" y="2960521"/>
            <a:ext cx="1489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Continuous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0E0682-6640-0BCF-0279-824DF91EC9DC}"/>
              </a:ext>
            </a:extLst>
          </p:cNvPr>
          <p:cNvSpPr txBox="1"/>
          <p:nvPr/>
        </p:nvSpPr>
        <p:spPr>
          <a:xfrm>
            <a:off x="6274231" y="2960521"/>
            <a:ext cx="1489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Discrete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DF8A4D-87FD-36DF-1ACC-0DEABED095B7}"/>
              </a:ext>
            </a:extLst>
          </p:cNvPr>
          <p:cNvCxnSpPr>
            <a:cxnSpLocks/>
          </p:cNvCxnSpPr>
          <p:nvPr/>
        </p:nvCxnSpPr>
        <p:spPr>
          <a:xfrm flipH="1">
            <a:off x="5298897" y="2659962"/>
            <a:ext cx="508571" cy="257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D3F2BC-BE29-1B2D-66FE-9C08001152FD}"/>
              </a:ext>
            </a:extLst>
          </p:cNvPr>
          <p:cNvCxnSpPr>
            <a:cxnSpLocks/>
          </p:cNvCxnSpPr>
          <p:nvPr/>
        </p:nvCxnSpPr>
        <p:spPr>
          <a:xfrm>
            <a:off x="6292921" y="2659962"/>
            <a:ext cx="502238" cy="257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F9CC3F-7438-8522-36D5-6EB3309CDC87}"/>
              </a:ext>
            </a:extLst>
          </p:cNvPr>
          <p:cNvSpPr txBox="1"/>
          <p:nvPr/>
        </p:nvSpPr>
        <p:spPr>
          <a:xfrm>
            <a:off x="1076871" y="3987435"/>
            <a:ext cx="69902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Predictor/Independent versus Response/Dependent variables</a:t>
            </a:r>
          </a:p>
        </p:txBody>
      </p:sp>
    </p:spTree>
    <p:extLst>
      <p:ext uri="{BB962C8B-B14F-4D97-AF65-F5344CB8AC3E}">
        <p14:creationId xmlns:p14="http://schemas.microsoft.com/office/powerpoint/2010/main" val="423853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5" grpId="0"/>
      <p:bldP spid="16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E7BB-1A7C-47CC-BC9B-56266CA7B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45238"/>
            <a:ext cx="7886700" cy="1325563"/>
          </a:xfrm>
        </p:spPr>
        <p:txBody>
          <a:bodyPr/>
          <a:lstStyle/>
          <a:p>
            <a:pPr algn="ctr"/>
            <a:r>
              <a:rPr lang="en-US" b="1" dirty="0"/>
              <a:t>Working with Data </a:t>
            </a:r>
            <a:r>
              <a:rPr lang="en-US" b="1" dirty="0">
                <a:highlight>
                  <a:srgbClr val="FFFF00"/>
                </a:highlight>
              </a:rPr>
              <a:t>in R</a:t>
            </a:r>
            <a:br>
              <a:rPr lang="en-US" b="1" dirty="0"/>
            </a:br>
            <a:r>
              <a:rPr lang="en-US" b="1" dirty="0"/>
              <a:t>Data Types vs. Data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9F21-4E83-47D3-B45B-F6FEECC9E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0325" y="3201978"/>
            <a:ext cx="3943350" cy="3263504"/>
          </a:xfrm>
        </p:spPr>
        <p:txBody>
          <a:bodyPr/>
          <a:lstStyle/>
          <a:p>
            <a:r>
              <a:rPr lang="en-US" dirty="0"/>
              <a:t>Character</a:t>
            </a:r>
          </a:p>
          <a:p>
            <a:r>
              <a:rPr lang="en-US" dirty="0"/>
              <a:t>Numeric</a:t>
            </a:r>
          </a:p>
          <a:p>
            <a:r>
              <a:rPr lang="en-US" dirty="0"/>
              <a:t>Integer</a:t>
            </a:r>
          </a:p>
          <a:p>
            <a:r>
              <a:rPr lang="en-US" dirty="0"/>
              <a:t>Logical</a:t>
            </a:r>
          </a:p>
          <a:p>
            <a:r>
              <a:rPr lang="en-US" dirty="0"/>
              <a:t>Complex</a:t>
            </a:r>
          </a:p>
          <a:p>
            <a:r>
              <a:rPr lang="en-US" dirty="0"/>
              <a:t>Factor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C22577-5CB0-473A-9972-F954442DDCDB}"/>
              </a:ext>
            </a:extLst>
          </p:cNvPr>
          <p:cNvSpPr txBox="1">
            <a:spLocks/>
          </p:cNvSpPr>
          <p:nvPr/>
        </p:nvSpPr>
        <p:spPr>
          <a:xfrm>
            <a:off x="5361972" y="3201978"/>
            <a:ext cx="394335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Vector</a:t>
            </a:r>
          </a:p>
          <a:p>
            <a:r>
              <a:rPr lang="en-US" dirty="0"/>
              <a:t>Matrix</a:t>
            </a:r>
          </a:p>
          <a:p>
            <a:r>
              <a:rPr lang="en-US" dirty="0"/>
              <a:t>Array</a:t>
            </a:r>
          </a:p>
          <a:p>
            <a:r>
              <a:rPr lang="en-US" dirty="0"/>
              <a:t>Data frame</a:t>
            </a:r>
          </a:p>
          <a:p>
            <a:r>
              <a:rPr lang="en-US" dirty="0"/>
              <a:t>List</a:t>
            </a:r>
          </a:p>
          <a:p>
            <a:pPr marL="0" indent="0">
              <a:buNone/>
            </a:pPr>
            <a:endParaRPr lang="en-US" sz="21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029106-B659-4CE0-81BC-C20343A37B9F}"/>
              </a:ext>
            </a:extLst>
          </p:cNvPr>
          <p:cNvCxnSpPr>
            <a:cxnSpLocks/>
          </p:cNvCxnSpPr>
          <p:nvPr/>
        </p:nvCxnSpPr>
        <p:spPr>
          <a:xfrm>
            <a:off x="3185932" y="2130278"/>
            <a:ext cx="0" cy="9843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085D09-EE60-409D-B7EF-C74319998F36}"/>
              </a:ext>
            </a:extLst>
          </p:cNvPr>
          <p:cNvCxnSpPr>
            <a:cxnSpLocks/>
          </p:cNvCxnSpPr>
          <p:nvPr/>
        </p:nvCxnSpPr>
        <p:spPr>
          <a:xfrm>
            <a:off x="5803619" y="2130278"/>
            <a:ext cx="0" cy="9284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23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1A81BF8-099D-463D-A08F-0C2E04BC3B81}"/>
              </a:ext>
            </a:extLst>
          </p:cNvPr>
          <p:cNvSpPr/>
          <p:nvPr/>
        </p:nvSpPr>
        <p:spPr>
          <a:xfrm>
            <a:off x="955964" y="1208019"/>
            <a:ext cx="2673927" cy="5555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A83393-6633-D520-8892-C5FB0A37B433}"/>
              </a:ext>
            </a:extLst>
          </p:cNvPr>
          <p:cNvSpPr txBox="1">
            <a:spLocks/>
          </p:cNvSpPr>
          <p:nvPr/>
        </p:nvSpPr>
        <p:spPr>
          <a:xfrm>
            <a:off x="628650" y="54523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Working with Data in R</a:t>
            </a:r>
            <a:br>
              <a:rPr lang="en-US" b="1" dirty="0"/>
            </a:br>
            <a:r>
              <a:rPr lang="en-US" b="1" dirty="0"/>
              <a:t>Data Types vs. Data Structures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42659049-63A9-4141-B3D8-09AD7E29561A}"/>
              </a:ext>
            </a:extLst>
          </p:cNvPr>
          <p:cNvGraphicFramePr>
            <a:graphicFrameLocks noGrp="1"/>
          </p:cNvGraphicFramePr>
          <p:nvPr/>
        </p:nvGraphicFramePr>
        <p:xfrm>
          <a:off x="238729" y="2539843"/>
          <a:ext cx="8666544" cy="27772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8848">
                  <a:extLst>
                    <a:ext uri="{9D8B030D-6E8A-4147-A177-3AD203B41FA5}">
                      <a16:colId xmlns:a16="http://schemas.microsoft.com/office/drawing/2014/main" val="806903664"/>
                    </a:ext>
                  </a:extLst>
                </a:gridCol>
                <a:gridCol w="2888848">
                  <a:extLst>
                    <a:ext uri="{9D8B030D-6E8A-4147-A177-3AD203B41FA5}">
                      <a16:colId xmlns:a16="http://schemas.microsoft.com/office/drawing/2014/main" val="2608294450"/>
                    </a:ext>
                  </a:extLst>
                </a:gridCol>
                <a:gridCol w="2888848">
                  <a:extLst>
                    <a:ext uri="{9D8B030D-6E8A-4147-A177-3AD203B41FA5}">
                      <a16:colId xmlns:a16="http://schemas.microsoft.com/office/drawing/2014/main" val="3266139674"/>
                    </a:ext>
                  </a:extLst>
                </a:gridCol>
              </a:tblGrid>
              <a:tr h="412574">
                <a:tc>
                  <a:txBody>
                    <a:bodyPr/>
                    <a:lstStyle/>
                    <a:p>
                      <a:r>
                        <a:rPr lang="en-US" sz="1800" dirty="0"/>
                        <a:t>Character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“hello”, “a”, “1”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Letters, numbers, symbols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37503"/>
                  </a:ext>
                </a:extLst>
              </a:tr>
              <a:tr h="436862">
                <a:tc>
                  <a:txBody>
                    <a:bodyPr/>
                    <a:lstStyle/>
                    <a:p>
                      <a:r>
                        <a:rPr lang="en-US" sz="1800" dirty="0"/>
                        <a:t>Numeric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0.05, 27.3, 154902.0004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All real numbers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861699"/>
                  </a:ext>
                </a:extLst>
              </a:tr>
              <a:tr h="436862">
                <a:tc>
                  <a:txBody>
                    <a:bodyPr/>
                    <a:lstStyle/>
                    <a:p>
                      <a:r>
                        <a:rPr lang="en-US" sz="1800" dirty="0"/>
                        <a:t>Integer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-731, 1, 5, 206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All integers (whole numbers)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006003"/>
                  </a:ext>
                </a:extLst>
              </a:tr>
              <a:tr h="436862">
                <a:tc>
                  <a:txBody>
                    <a:bodyPr/>
                    <a:lstStyle/>
                    <a:p>
                      <a:r>
                        <a:rPr lang="en-US" sz="1800" dirty="0"/>
                        <a:t>Logical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 or FALSE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Binary variables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692258"/>
                  </a:ext>
                </a:extLst>
              </a:tr>
              <a:tr h="436862">
                <a:tc>
                  <a:txBody>
                    <a:bodyPr/>
                    <a:lstStyle/>
                    <a:p>
                      <a:r>
                        <a:rPr lang="en-US" sz="1800" dirty="0"/>
                        <a:t>Complex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 + 2i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Set of complex numbers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49482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r>
                        <a:rPr lang="en-US" sz="1800" dirty="0"/>
                        <a:t>Factor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“High”, “Medium”, “Low”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Categorical variables with levels (fixed)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1668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74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0364AC-F4FB-402B-A5B2-7961D9DC6FCF}"/>
              </a:ext>
            </a:extLst>
          </p:cNvPr>
          <p:cNvSpPr/>
          <p:nvPr/>
        </p:nvSpPr>
        <p:spPr>
          <a:xfrm>
            <a:off x="4411613" y="1206041"/>
            <a:ext cx="3730983" cy="5555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6A7AA7-4FEB-DDF3-B21D-4D25EC79CC55}"/>
              </a:ext>
            </a:extLst>
          </p:cNvPr>
          <p:cNvSpPr txBox="1">
            <a:spLocks/>
          </p:cNvSpPr>
          <p:nvPr/>
        </p:nvSpPr>
        <p:spPr>
          <a:xfrm>
            <a:off x="628650" y="54523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Working with Data in R</a:t>
            </a:r>
            <a:br>
              <a:rPr lang="en-US" b="1" dirty="0"/>
            </a:br>
            <a:r>
              <a:rPr lang="en-US" b="1" dirty="0"/>
              <a:t>Data Types vs. Data Structures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C22577-5CB0-473A-9972-F954442DDCDB}"/>
              </a:ext>
            </a:extLst>
          </p:cNvPr>
          <p:cNvSpPr txBox="1">
            <a:spLocks/>
          </p:cNvSpPr>
          <p:nvPr/>
        </p:nvSpPr>
        <p:spPr>
          <a:xfrm>
            <a:off x="5361972" y="2620084"/>
            <a:ext cx="394335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Vector</a:t>
            </a:r>
          </a:p>
          <a:p>
            <a:r>
              <a:rPr lang="en-US" sz="2100" dirty="0"/>
              <a:t>List</a:t>
            </a:r>
          </a:p>
          <a:p>
            <a:r>
              <a:rPr lang="en-US" sz="2100" dirty="0"/>
              <a:t>Matrix</a:t>
            </a:r>
          </a:p>
          <a:p>
            <a:r>
              <a:rPr lang="en-US" sz="2100" dirty="0"/>
              <a:t>Data frame</a:t>
            </a:r>
          </a:p>
          <a:p>
            <a:r>
              <a:rPr lang="en-US" sz="2100" dirty="0"/>
              <a:t>Factor</a:t>
            </a:r>
          </a:p>
          <a:p>
            <a:pPr marL="0" indent="0">
              <a:buNone/>
            </a:pPr>
            <a:endParaRPr lang="en-US" sz="21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55D734B-7216-4356-B24F-B29286B66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1" y="1988766"/>
            <a:ext cx="7415213" cy="355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D32A5D-2DD2-4422-BF70-BBC58D046C1A}"/>
              </a:ext>
            </a:extLst>
          </p:cNvPr>
          <p:cNvSpPr txBox="1"/>
          <p:nvPr/>
        </p:nvSpPr>
        <p:spPr>
          <a:xfrm>
            <a:off x="138896" y="5629147"/>
            <a:ext cx="465302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Note: Colors = data types in this example</a:t>
            </a:r>
          </a:p>
        </p:txBody>
      </p:sp>
    </p:spTree>
    <p:extLst>
      <p:ext uri="{BB962C8B-B14F-4D97-AF65-F5344CB8AC3E}">
        <p14:creationId xmlns:p14="http://schemas.microsoft.com/office/powerpoint/2010/main" val="1179372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701A-C580-41C1-87DB-FB32D51D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Structures can be nested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CC60-3E74-44E9-AB58-FE59BAE5C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vectors (of different data types) within a data frame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81D6084-DC33-4B6D-99EB-D4151782BA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11" r="76302"/>
          <a:stretch/>
        </p:blipFill>
        <p:spPr bwMode="auto">
          <a:xfrm>
            <a:off x="3489737" y="3993267"/>
            <a:ext cx="1757272" cy="188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CC6D5C-FF2E-43CA-932C-416006B73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59"/>
          <a:stretch/>
        </p:blipFill>
        <p:spPr>
          <a:xfrm>
            <a:off x="700207" y="2931914"/>
            <a:ext cx="7336332" cy="9941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8DAC7C1-0F47-4CF9-81C8-93A8DBCE3639}"/>
              </a:ext>
            </a:extLst>
          </p:cNvPr>
          <p:cNvSpPr/>
          <p:nvPr/>
        </p:nvSpPr>
        <p:spPr>
          <a:xfrm>
            <a:off x="1918504" y="3131675"/>
            <a:ext cx="572947" cy="8615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80ED6-A616-4EFC-B4F2-BFE4090DFFCD}"/>
              </a:ext>
            </a:extLst>
          </p:cNvPr>
          <p:cNvSpPr txBox="1"/>
          <p:nvPr/>
        </p:nvSpPr>
        <p:spPr>
          <a:xfrm>
            <a:off x="919114" y="4292531"/>
            <a:ext cx="24030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View data types of each column in the dataset using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str()</a:t>
            </a:r>
            <a:r>
              <a:rPr lang="en-US" sz="1350" dirty="0"/>
              <a:t>*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643DB8-E17F-4E86-BED5-7205171173BB}"/>
              </a:ext>
            </a:extLst>
          </p:cNvPr>
          <p:cNvCxnSpPr>
            <a:cxnSpLocks/>
          </p:cNvCxnSpPr>
          <p:nvPr/>
        </p:nvCxnSpPr>
        <p:spPr>
          <a:xfrm flipV="1">
            <a:off x="1918504" y="4027289"/>
            <a:ext cx="96476" cy="2652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6815EE-0F48-4FEB-B0D8-03082CE5FAA8}"/>
              </a:ext>
            </a:extLst>
          </p:cNvPr>
          <p:cNvSpPr txBox="1"/>
          <p:nvPr/>
        </p:nvSpPr>
        <p:spPr>
          <a:xfrm>
            <a:off x="6314020" y="5298200"/>
            <a:ext cx="250946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*you can also use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US" sz="1350" dirty="0"/>
              <a:t> to achieve the same goal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154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701A-C580-41C1-87DB-FB32D51D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Structures can be nested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CC60-3E74-44E9-AB58-FE59BAE5C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vectors (of different data types) within a data frame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81D6084-DC33-4B6D-99EB-D4151782BA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11" r="76302"/>
          <a:stretch/>
        </p:blipFill>
        <p:spPr bwMode="auto">
          <a:xfrm>
            <a:off x="3489737" y="3993267"/>
            <a:ext cx="1757272" cy="188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CC6D5C-FF2E-43CA-932C-416006B73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159"/>
          <a:stretch/>
        </p:blipFill>
        <p:spPr>
          <a:xfrm>
            <a:off x="700207" y="2931914"/>
            <a:ext cx="7336332" cy="9941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8DAC7C1-0F47-4CF9-81C8-93A8DBCE3639}"/>
              </a:ext>
            </a:extLst>
          </p:cNvPr>
          <p:cNvSpPr/>
          <p:nvPr/>
        </p:nvSpPr>
        <p:spPr>
          <a:xfrm>
            <a:off x="628651" y="2998203"/>
            <a:ext cx="396515" cy="10290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8AEDC-E638-4B25-9C12-E11A96B1AE4C}"/>
              </a:ext>
            </a:extLst>
          </p:cNvPr>
          <p:cNvSpPr txBox="1"/>
          <p:nvPr/>
        </p:nvSpPr>
        <p:spPr>
          <a:xfrm>
            <a:off x="311085" y="4349881"/>
            <a:ext cx="1661474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Reminder: $ helps you access columns!</a:t>
            </a:r>
          </a:p>
          <a:p>
            <a:endParaRPr lang="en-US" sz="1350" dirty="0"/>
          </a:p>
          <a:p>
            <a:r>
              <a:rPr lang="en-US" sz="1350" dirty="0"/>
              <a:t>e.g. </a:t>
            </a:r>
          </a:p>
          <a:p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edidiv$year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23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9951D-67CD-16BA-FAC6-C554CCD1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55D69E-A256-C05C-71E0-5ABB7878C4D7}"/>
              </a:ext>
            </a:extLst>
          </p:cNvPr>
          <p:cNvSpPr txBox="1"/>
          <p:nvPr/>
        </p:nvSpPr>
        <p:spPr>
          <a:xfrm>
            <a:off x="172844" y="276739"/>
            <a:ext cx="879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  <a:cs typeface="Abadi" panose="020F0502020204030204" pitchFamily="34" charset="0"/>
              </a:rPr>
              <a:t>My first error in R…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E4C60B-1AD8-055C-6FC2-4B170CF6118D}"/>
              </a:ext>
            </a:extLst>
          </p:cNvPr>
          <p:cNvSpPr/>
          <p:nvPr/>
        </p:nvSpPr>
        <p:spPr>
          <a:xfrm>
            <a:off x="361457" y="1494078"/>
            <a:ext cx="833919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i="1" dirty="0">
                <a:solidFill>
                  <a:srgbClr val="11111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Getting started: Errors reading in your data</a:t>
            </a:r>
            <a:endParaRPr lang="en-US" sz="1200" dirty="0">
              <a:solidFill>
                <a:srgbClr val="111111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Check that the path directory is correct and that the files actually exist in the specified folder; are you telling R which file to read?? </a:t>
            </a:r>
            <a:r>
              <a:rPr lang="en-US" sz="2400" dirty="0">
                <a:solidFill>
                  <a:srgbClr val="111111"/>
                </a:solidFill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 the </a:t>
            </a:r>
            <a:r>
              <a:rPr lang="en-US" sz="2400" dirty="0" err="1">
                <a:solidFill>
                  <a:srgbClr val="111111"/>
                </a:solidFill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list.files</a:t>
            </a:r>
            <a:r>
              <a:rPr lang="en-US" sz="2400" dirty="0">
                <a:solidFill>
                  <a:srgbClr val="111111"/>
                </a:solidFill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() function</a:t>
            </a:r>
            <a:endParaRPr lang="en-US" sz="2400" dirty="0">
              <a:highlight>
                <a:srgbClr val="FFFF00"/>
              </a:highlight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Carefully check for typos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Reload any packages (e.g., that might be needed to read in certain types of files such as GIS files)</a:t>
            </a:r>
            <a:endParaRPr lang="en-US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When in doubt, close and re-open R…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mic Sans MS" panose="030F0902030302020204" pitchFamily="66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65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16633</TotalTime>
  <Words>980</Words>
  <Application>Microsoft Macintosh PowerPoint</Application>
  <PresentationFormat>On-screen Show (4:3)</PresentationFormat>
  <Paragraphs>162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Comic Sans MS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data? Data types (in statistics)</vt:lpstr>
      <vt:lpstr>Working with Data in R Data Types vs. Data Structures</vt:lpstr>
      <vt:lpstr>PowerPoint Presentation</vt:lpstr>
      <vt:lpstr>PowerPoint Presentation</vt:lpstr>
      <vt:lpstr>Data Structures can be nested</vt:lpstr>
      <vt:lpstr>Data Structures can be nested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Brown, Leone M.</dc:creator>
  <cp:lastModifiedBy>Brown, Lee - brown8lm</cp:lastModifiedBy>
  <cp:revision>237</cp:revision>
  <dcterms:created xsi:type="dcterms:W3CDTF">2020-03-09T18:53:03Z</dcterms:created>
  <dcterms:modified xsi:type="dcterms:W3CDTF">2025-08-25T06:43:11Z</dcterms:modified>
</cp:coreProperties>
</file>