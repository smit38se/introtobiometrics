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511" r:id="rId2"/>
    <p:sldId id="577" r:id="rId3"/>
    <p:sldId id="578" r:id="rId4"/>
    <p:sldId id="575" r:id="rId5"/>
    <p:sldId id="576" r:id="rId6"/>
    <p:sldId id="530" r:id="rId7"/>
    <p:sldId id="481" r:id="rId8"/>
    <p:sldId id="52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98" autoAdjust="0"/>
    <p:restoredTop sz="84341"/>
  </p:normalViewPr>
  <p:slideViewPr>
    <p:cSldViewPr snapToGrid="0">
      <p:cViewPr varScale="1">
        <p:scale>
          <a:sx n="91" d="100"/>
          <a:sy n="91" d="100"/>
        </p:scale>
        <p:origin x="224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AD4545-29AF-C343-A8AF-2454C946D356}" type="datetimeFigureOut">
              <a:rPr lang="en-US" smtClean="0"/>
              <a:t>9/10/25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788451-98FA-5242-8465-EA2F67EB9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11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788451-98FA-5242-8465-EA2F67EB99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733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e.g., instead of coding </a:t>
            </a:r>
            <a:r>
              <a:rPr lang="en-US" dirty="0" err="1"/>
              <a:t>surv</a:t>
            </a:r>
            <a:r>
              <a:rPr lang="en-US" dirty="0"/>
              <a:t>*</a:t>
            </a:r>
            <a:r>
              <a:rPr lang="en-US" dirty="0" err="1"/>
              <a:t>surv</a:t>
            </a:r>
            <a:r>
              <a:rPr lang="en-US" dirty="0"/>
              <a:t>*</a:t>
            </a:r>
            <a:r>
              <a:rPr lang="en-US" dirty="0" err="1"/>
              <a:t>surv</a:t>
            </a:r>
            <a:r>
              <a:rPr lang="en-US" dirty="0"/>
              <a:t>*</a:t>
            </a:r>
            <a:r>
              <a:rPr lang="en-US" dirty="0" err="1"/>
              <a:t>surv</a:t>
            </a:r>
            <a:r>
              <a:rPr lang="en-US" dirty="0"/>
              <a:t>*(1-surv), code surv^4*(1-surv)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A6911-F4CA-4E74-B0F9-EA826484CA0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7590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01CEA-65CC-D437-C873-507342564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0E7632-C9B1-6981-B692-C86D8A5C66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55B7DC-7C14-F14F-1269-3FDD260149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e.g., instead of coding </a:t>
            </a:r>
            <a:r>
              <a:rPr lang="en-US" dirty="0" err="1"/>
              <a:t>surv</a:t>
            </a:r>
            <a:r>
              <a:rPr lang="en-US" dirty="0"/>
              <a:t>*</a:t>
            </a:r>
            <a:r>
              <a:rPr lang="en-US" dirty="0" err="1"/>
              <a:t>surv</a:t>
            </a:r>
            <a:r>
              <a:rPr lang="en-US" dirty="0"/>
              <a:t>*</a:t>
            </a:r>
            <a:r>
              <a:rPr lang="en-US" dirty="0" err="1"/>
              <a:t>surv</a:t>
            </a:r>
            <a:r>
              <a:rPr lang="en-US" dirty="0"/>
              <a:t>*</a:t>
            </a:r>
            <a:r>
              <a:rPr lang="en-US" dirty="0" err="1"/>
              <a:t>surv</a:t>
            </a:r>
            <a:r>
              <a:rPr lang="en-US" dirty="0"/>
              <a:t>*(1-surv), code surv^4*(1-surv)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A67EB-617C-66D3-5A4A-E50C96C8C9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A6911-F4CA-4E74-B0F9-EA826484CA0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3872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7CFF3-6747-3517-125C-CE954414D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B0D8F1-A2BA-8F53-4037-EB6E87187D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9156C9-E0FB-F577-E8B2-3C5FBB5A9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144A9-40E2-6B1D-292E-42B3721760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75D751-24FB-A847-89E8-DB9CD72C437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0620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the probability of getting our data in which we have 0 people preferring death metal to opera if the proportion who prefer it (the model) is 0 people, is 1, and our estimate of p-hat is then 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75D751-24FB-A847-89E8-DB9CD72C437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8576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75D751-24FB-A847-89E8-DB9CD72C437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0428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 across the likelihood profile, which is just our plot of the likelihoods for each of the hypothesized values. We can see here which value has the maximum likelihood </a:t>
            </a:r>
          </a:p>
          <a:p>
            <a:r>
              <a:rPr lang="en-US" dirty="0"/>
              <a:t>Example for searching across both f </a:t>
            </a:r>
            <a:r>
              <a:rPr lang="en-US" i="1" dirty="0"/>
              <a:t>and </a:t>
            </a:r>
            <a:r>
              <a:rPr lang="en-US" i="0" dirty="0"/>
              <a:t>s in R</a:t>
            </a:r>
          </a:p>
          <a:p>
            <a:r>
              <a:rPr lang="en-US" i="0" dirty="0"/>
              <a:t>Here </a:t>
            </a:r>
            <a:r>
              <a:rPr lang="en-US" i="0"/>
              <a:t>we need something like a loop!!</a:t>
            </a:r>
            <a:endParaRPr lang="en-US" i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55B080-C85C-CE47-8537-17C1C020120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5104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for searching across both f </a:t>
            </a:r>
            <a:r>
              <a:rPr lang="en-US" i="1" dirty="0"/>
              <a:t>and </a:t>
            </a:r>
            <a:r>
              <a:rPr lang="en-US" i="0" dirty="0"/>
              <a:t>s at the same time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55B080-C85C-CE47-8537-17C1C020120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579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9A5E6-5709-4048-A373-454B744ED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F81309-276E-472D-8E14-8BF3523E54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68EE3-EFD9-4CBB-BA23-14E383F63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1D3E6-068A-436A-8601-F044BFB69ACE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F41F6-DFD1-4C75-BCCC-A268C1F46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A356B-48A3-410B-951D-08A06D553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9D97D-5A1C-4C80-91D2-AE45B1438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390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DC297-1E71-46AC-8335-6863A9A67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DE06E-5890-455D-A8C8-2FFEADDE6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AD064-6EC1-4787-9F24-6D50A4386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1D3E6-068A-436A-8601-F044BFB69ACE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26804-C64D-4141-A99B-B7D4E928F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05729-7124-435B-BF04-1A1EEF80F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9D97D-5A1C-4C80-91D2-AE45B1438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051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582AF-9413-40DE-B0AE-EA560865D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2F421-FB27-40E4-A4D8-26047CAC9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332AD-F436-46EA-9F75-FA64E4129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1D3E6-068A-436A-8601-F044BFB69ACE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03DC0-3087-4B91-B391-CD1189FCE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C3830-25CB-4CF8-A3F2-81663423A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9D97D-5A1C-4C80-91D2-AE45B1438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72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D31D3-6564-4D2A-BB80-423BA60C4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82821-51A6-4C9D-B019-12E7E8C2F2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C26E19-19E8-41C9-8CBC-01AA2E8F3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833397-2BDB-4671-ABB5-25F1F3949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1D3E6-068A-436A-8601-F044BFB69ACE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A9BF39-5974-4A0D-A837-7AAE0FFA4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252A76-3BC6-40BD-BED5-8E447FFCA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9D97D-5A1C-4C80-91D2-AE45B1438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887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BAFD3-2E22-4D76-9AAE-50A0D187C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74878F-227D-4995-8A02-2529204ED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027527-3266-47AE-B4D6-9D2602452A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4667C9-8929-4B7D-B797-816E8F4013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06591A-4070-4BEA-BC7D-C5D9F6043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BB7E9D-5452-43CD-9662-18CA3BD69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1D3E6-068A-436A-8601-F044BFB69ACE}" type="datetimeFigureOut">
              <a:rPr lang="en-US" smtClean="0"/>
              <a:t>9/10/25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7904B4-0923-4B18-8015-1C7B79678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1031C6-7D99-407E-BFDE-420767F48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9D97D-5A1C-4C80-91D2-AE45B1438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018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CBBEA-D387-49FA-9C33-853FD6836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E13019-FC9B-4172-834D-08A7C24CE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1D3E6-068A-436A-8601-F044BFB69ACE}" type="datetimeFigureOut">
              <a:rPr lang="en-US" smtClean="0"/>
              <a:t>9/10/25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F0D099-9DD1-4637-BE58-633A9EB56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E080AE-5008-4E37-9E4A-CA2AD1A04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9D97D-5A1C-4C80-91D2-AE45B1438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671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D80C34-308F-4D71-BD31-4B75676EB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1D3E6-068A-436A-8601-F044BFB69ACE}" type="datetimeFigureOut">
              <a:rPr lang="en-US" smtClean="0"/>
              <a:t>9/10/25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5BFFA2-5535-4721-9FB4-01EC2F040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10133-C248-4FBF-B372-60515F1FF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9D97D-5A1C-4C80-91D2-AE45B1438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822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453D3-8313-4003-B42C-2F4324D59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F6E8B-73EC-41A1-8754-5C8A4E117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F6128C-4F0B-4F93-80DF-F397505E98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8F8C62-EFCE-4C76-92FD-D974BE13D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1D3E6-068A-436A-8601-F044BFB69ACE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B2D371-28D7-4D72-932A-DA1C8CCE7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32C9A4-D317-49AA-B464-5752596D4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9D97D-5A1C-4C80-91D2-AE45B1438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720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EE968-4E68-4C12-B66A-AAF5072D7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CAB897-C53A-49B3-95DA-C8ADE837B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EB3065-6B6B-4895-89CB-2DDDC3564A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88927-3D5B-4691-ACCD-FE05E92DC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1D3E6-068A-436A-8601-F044BFB69ACE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05B00E-6CA0-43E8-89AD-F2EF43FB7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5F71C-4FBB-454A-AD88-76D33A73C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9D97D-5A1C-4C80-91D2-AE45B1438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99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49C0D-E517-4C69-BF73-1551F9D1B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DFAAB1-7942-414D-AD69-F5896E2C4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0B904-8B95-4F72-AE1D-C23C37650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1D3E6-068A-436A-8601-F044BFB69ACE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31C25-A534-4D0A-B18A-7AF350E30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DB5E3-0EDE-4022-AD12-9E14FD55D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9D97D-5A1C-4C80-91D2-AE45B1438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125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4E97DA-81C2-40E7-9643-CC3BFDE014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DEDD3D-2A6A-444E-A471-67C3AF4F2B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DBF24-F89E-4E5B-9D50-428A20D71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1D3E6-068A-436A-8601-F044BFB69ACE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E2F97-22B0-486B-94C0-39DF33DCF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9A4C2-CE98-498A-B91B-175150153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9D97D-5A1C-4C80-91D2-AE45B1438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698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9913D4-4238-4819-B47A-20916F3C8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E97CE-AC49-45D0-8C85-F96E7A7B8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D1B60-010E-4D4C-9D91-2F1DEA11A1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01D3E6-068A-436A-8601-F044BFB69ACE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70B5F-E487-4474-97CA-87B5DF034B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842A9-A74E-4FED-A1BE-8C00E4744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69D97D-5A1C-4C80-91D2-AE45B1438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289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CCEB5-D46D-5A40-A5D9-C3E6E804C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Likelihood Profiles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BA980-2B36-9B4C-BD3B-D2FB15DA4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256" y="1726813"/>
            <a:ext cx="4987159" cy="45259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You’ve already done this!</a:t>
            </a:r>
          </a:p>
          <a:p>
            <a:r>
              <a:rPr lang="en-US" dirty="0"/>
              <a:t>Start with a range of possible values of a parameter</a:t>
            </a:r>
          </a:p>
          <a:p>
            <a:r>
              <a:rPr lang="en-US" dirty="0"/>
              <a:t>Calculate likelihood</a:t>
            </a:r>
          </a:p>
          <a:p>
            <a:r>
              <a:rPr lang="en-US" dirty="0"/>
              <a:t>Parameter value that maximizes likelihood is the maximum likelihood estimate (MLE)</a:t>
            </a:r>
          </a:p>
          <a:p>
            <a:r>
              <a:rPr lang="en-US" dirty="0"/>
              <a:t>Plot the likelihood values (y-axis) against the possible parameter values  (x-axis) to visualize where the MLE is</a:t>
            </a:r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DFD4B793-E781-AE4D-B328-4933D9A81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7539" y="1417638"/>
            <a:ext cx="6319111" cy="529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720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460AEB-6673-4AEA-9BA2-DF07C2956B20}"/>
              </a:ext>
            </a:extLst>
          </p:cNvPr>
          <p:cNvSpPr txBox="1"/>
          <p:nvPr/>
        </p:nvSpPr>
        <p:spPr>
          <a:xfrm>
            <a:off x="512830" y="195931"/>
            <a:ext cx="739525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Also likelihood profiles (lecture2challenge2.Rmd)</a:t>
            </a:r>
          </a:p>
          <a:p>
            <a:endParaRPr lang="en-US" sz="2200" dirty="0"/>
          </a:p>
          <a:p>
            <a:r>
              <a:rPr lang="en-US" sz="2200" dirty="0"/>
              <a:t>Challenge #2</a:t>
            </a:r>
          </a:p>
          <a:p>
            <a:pPr marL="457200" indent="-457200">
              <a:buAutoNum type="alphaLcPeriod"/>
            </a:pPr>
            <a:r>
              <a:rPr lang="en-US" sz="2200" dirty="0"/>
              <a:t>Calculate the log-likelihood of survival having each of the following values: 0.1, 0.2, 0.3, 0.4, 0.5, 0.6, 0.7, 0.8, 0.9 using the 5-plant data set</a:t>
            </a:r>
          </a:p>
          <a:p>
            <a:pPr marL="457200" indent="-457200">
              <a:buAutoNum type="alphaLcPeriod"/>
            </a:pPr>
            <a:endParaRPr lang="en-US" sz="2200" dirty="0"/>
          </a:p>
          <a:p>
            <a:pPr marL="457200" indent="-457200">
              <a:buAutoNum type="alphaLcPeriod"/>
            </a:pPr>
            <a:r>
              <a:rPr lang="en-US" sz="2200" dirty="0"/>
              <a:t>Make a graph of the log-likelihood (y-axis) vs. value of survival (x-axis)</a:t>
            </a:r>
          </a:p>
          <a:p>
            <a:pPr lvl="1"/>
            <a:endParaRPr lang="en-US" sz="2200" dirty="0"/>
          </a:p>
          <a:p>
            <a:pPr marL="457200" indent="-457200">
              <a:buAutoNum type="alphaLcPeriod"/>
            </a:pPr>
            <a:r>
              <a:rPr lang="en-US" sz="2200" dirty="0"/>
              <a:t>Repeat your calculations and plotting using the 10-plant data set.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0251DB-8EAE-4A6A-830C-7586DD531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542" y="3779099"/>
            <a:ext cx="2194398" cy="2742998"/>
          </a:xfrm>
          <a:prstGeom prst="rect">
            <a:avLst/>
          </a:prstGeom>
        </p:spPr>
      </p:pic>
      <p:sp>
        <p:nvSpPr>
          <p:cNvPr id="4" name="Star: 5 Points 3">
            <a:extLst>
              <a:ext uri="{FF2B5EF4-FFF2-40B4-BE49-F238E27FC236}">
                <a16:creationId xmlns:a16="http://schemas.microsoft.com/office/drawing/2014/main" id="{EBC7532C-0566-4C7B-8901-DA320F0F6E22}"/>
              </a:ext>
            </a:extLst>
          </p:cNvPr>
          <p:cNvSpPr/>
          <p:nvPr/>
        </p:nvSpPr>
        <p:spPr>
          <a:xfrm>
            <a:off x="10731760" y="2828264"/>
            <a:ext cx="1427584" cy="1296955"/>
          </a:xfrm>
          <a:prstGeom prst="star5">
            <a:avLst/>
          </a:prstGeom>
          <a:solidFill>
            <a:srgbClr val="FFFF00"/>
          </a:solidFill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168131-B346-4355-B085-3DB4307731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8019" y="57417"/>
            <a:ext cx="2207131" cy="2349881"/>
          </a:xfrm>
          <a:prstGeom prst="rect">
            <a:avLst/>
          </a:prstGeom>
        </p:spPr>
      </p:pic>
      <p:pic>
        <p:nvPicPr>
          <p:cNvPr id="6" name="Picture 5" descr="A picture containing map&#10;&#10;Description automatically generated">
            <a:extLst>
              <a:ext uri="{FF2B5EF4-FFF2-40B4-BE49-F238E27FC236}">
                <a16:creationId xmlns:a16="http://schemas.microsoft.com/office/drawing/2014/main" id="{5860968C-9543-4E82-92A7-1F507A3710A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2724" y="1877430"/>
            <a:ext cx="2194398" cy="19016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DAE73C-A4F0-4EB1-9C26-3642F641851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21945" r="37218"/>
          <a:stretch/>
        </p:blipFill>
        <p:spPr>
          <a:xfrm>
            <a:off x="8222724" y="278118"/>
            <a:ext cx="1410691" cy="12969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9195A9-839F-ABBE-2466-E50FF4B92215}"/>
              </a:ext>
            </a:extLst>
          </p:cNvPr>
          <p:cNvSpPr txBox="1"/>
          <p:nvPr/>
        </p:nvSpPr>
        <p:spPr>
          <a:xfrm>
            <a:off x="219580" y="4261086"/>
            <a:ext cx="879796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u="sng" dirty="0">
                <a:solidFill>
                  <a:schemeClr val="accent1"/>
                </a:solidFill>
              </a:rPr>
              <a:t>Try to do this on your own!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</a:rPr>
              <a:t>Use the c() or seq() functions in R to make a vector of survival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</a:rPr>
              <a:t>Combine the survival values and likelihoods into a </a:t>
            </a:r>
            <a:r>
              <a:rPr lang="en-US" sz="2000" dirty="0" err="1">
                <a:solidFill>
                  <a:schemeClr val="accent1"/>
                </a:solidFill>
              </a:rPr>
              <a:t>dataframe</a:t>
            </a:r>
            <a:r>
              <a:rPr lang="en-US" sz="2000" dirty="0">
                <a:solidFill>
                  <a:schemeClr val="accent1"/>
                </a:solidFill>
              </a:rPr>
              <a:t> to plot with </a:t>
            </a:r>
            <a:r>
              <a:rPr lang="en-US" sz="2000" dirty="0" err="1">
                <a:solidFill>
                  <a:schemeClr val="accent1"/>
                </a:solidFill>
              </a:rPr>
              <a:t>ggplot</a:t>
            </a:r>
            <a:endParaRPr lang="en-US" sz="2000" dirty="0">
              <a:solidFill>
                <a:schemeClr val="accent1"/>
              </a:solidFill>
            </a:endParaRPr>
          </a:p>
          <a:p>
            <a:r>
              <a:rPr lang="en-US" sz="2000" b="1" dirty="0">
                <a:solidFill>
                  <a:srgbClr val="C00000"/>
                </a:solidFill>
              </a:rPr>
              <a:t>0R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</a:rPr>
              <a:t>Use the plot() function in R: plot(x, y)</a:t>
            </a:r>
          </a:p>
          <a:p>
            <a:endParaRPr lang="en-US" sz="2000" dirty="0">
              <a:solidFill>
                <a:schemeClr val="accent1"/>
              </a:solidFill>
            </a:endParaRPr>
          </a:p>
          <a:p>
            <a:r>
              <a:rPr lang="en-US" sz="2000" i="1" dirty="0">
                <a:solidFill>
                  <a:schemeClr val="accent1"/>
                </a:solidFill>
              </a:rPr>
              <a:t>Start with just plotting the likelihoods if this feels more intuitive, use exponents</a:t>
            </a:r>
          </a:p>
        </p:txBody>
      </p:sp>
    </p:spTree>
    <p:extLst>
      <p:ext uri="{BB962C8B-B14F-4D97-AF65-F5344CB8AC3E}">
        <p14:creationId xmlns:p14="http://schemas.microsoft.com/office/powerpoint/2010/main" val="2728311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D69AD-E706-96DD-916C-61BE0E2CC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85BBD7-F524-E92F-FB16-8DCDF4F8A71E}"/>
              </a:ext>
            </a:extLst>
          </p:cNvPr>
          <p:cNvSpPr txBox="1"/>
          <p:nvPr/>
        </p:nvSpPr>
        <p:spPr>
          <a:xfrm>
            <a:off x="512830" y="195931"/>
            <a:ext cx="73952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Also likelihood profiles (lecture2challenge2.Rmd)</a:t>
            </a:r>
          </a:p>
          <a:p>
            <a:endParaRPr lang="en-US" sz="2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02FD68-E8CF-E2C2-ABFD-F17E91745D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6104"/>
          <a:stretch>
            <a:fillRect/>
          </a:stretch>
        </p:blipFill>
        <p:spPr>
          <a:xfrm>
            <a:off x="6071694" y="1449435"/>
            <a:ext cx="5674831" cy="49161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AE5F96-478B-A2B8-96DA-FA5D1B9743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9310"/>
          <a:stretch>
            <a:fillRect/>
          </a:stretch>
        </p:blipFill>
        <p:spPr>
          <a:xfrm>
            <a:off x="239151" y="1396557"/>
            <a:ext cx="5401994" cy="49690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91524AF-8633-700C-12EA-B5E54E542E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152" t="27184" b="40266"/>
          <a:stretch>
            <a:fillRect/>
          </a:stretch>
        </p:blipFill>
        <p:spPr>
          <a:xfrm>
            <a:off x="9551965" y="3573193"/>
            <a:ext cx="1985026" cy="16002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3A3DAE8-EDD7-E3C0-375A-F9A2096973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152" t="27184" b="40266"/>
          <a:stretch>
            <a:fillRect/>
          </a:stretch>
        </p:blipFill>
        <p:spPr>
          <a:xfrm>
            <a:off x="1947635" y="1449435"/>
            <a:ext cx="1985026" cy="160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228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FA765-5190-2C50-5251-3EA0D47CB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63">
            <a:extLst>
              <a:ext uri="{FF2B5EF4-FFF2-40B4-BE49-F238E27FC236}">
                <a16:creationId xmlns:a16="http://schemas.microsoft.com/office/drawing/2014/main" id="{F74660A0-EABA-AFC6-5EDE-2F7071EBE2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615" r="6962"/>
          <a:stretch>
            <a:fillRect/>
          </a:stretch>
        </p:blipFill>
        <p:spPr>
          <a:xfrm>
            <a:off x="5346848" y="2211906"/>
            <a:ext cx="5314810" cy="459993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5846F9D-6F0A-EF27-15C6-6F846D7D823E}"/>
              </a:ext>
            </a:extLst>
          </p:cNvPr>
          <p:cNvSpPr txBox="1"/>
          <p:nvPr/>
        </p:nvSpPr>
        <p:spPr>
          <a:xfrm>
            <a:off x="4871690" y="275431"/>
            <a:ext cx="70934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/>
          </a:p>
          <a:p>
            <a:r>
              <a:rPr lang="en-US" sz="2800" dirty="0"/>
              <a:t>Likelihood profile:</a:t>
            </a:r>
          </a:p>
          <a:p>
            <a:pPr lvl="1"/>
            <a:r>
              <a:rPr lang="en-US" sz="2800" dirty="0"/>
              <a:t>DATA: 4 people, 1 death metal fan</a:t>
            </a:r>
          </a:p>
          <a:p>
            <a:pPr lvl="1"/>
            <a:r>
              <a:rPr lang="en-US" sz="2800" dirty="0"/>
              <a:t>MODELS: values of the proportion who prefer death metal</a:t>
            </a:r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42B6E768-5A9E-7337-4F83-10726445A3DE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31813" y="592138"/>
            <a:ext cx="4219575" cy="567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A31F8D0B-D512-5500-0699-EAADB889C4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7663" y="631826"/>
            <a:ext cx="0" cy="5502275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6B74F71D-6A04-0CA8-BF5C-385C79CC362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9113" y="631826"/>
            <a:ext cx="0" cy="5502275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Line 7">
            <a:extLst>
              <a:ext uri="{FF2B5EF4-FFF2-40B4-BE49-F238E27FC236}">
                <a16:creationId xmlns:a16="http://schemas.microsoft.com/office/drawing/2014/main" id="{E7C92D58-FD4E-8851-49A5-1CFB2E119BDD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1" y="1096963"/>
            <a:ext cx="42116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7FFC9AE9-E286-6745-88C4-CE5B48CC1390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1" y="1554163"/>
            <a:ext cx="42116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B2668A09-FBB3-568C-FD12-EEF36D3AF95C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1" y="2011363"/>
            <a:ext cx="42116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A00CF964-E0C7-6ABC-FA57-52283DD5EB28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1" y="2468563"/>
            <a:ext cx="42116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Line 11">
            <a:extLst>
              <a:ext uri="{FF2B5EF4-FFF2-40B4-BE49-F238E27FC236}">
                <a16:creationId xmlns:a16="http://schemas.microsoft.com/office/drawing/2014/main" id="{1BDBB90D-EF7A-8FD0-7A13-8933E6FB9AF0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1" y="2925763"/>
            <a:ext cx="42116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Line 12">
            <a:extLst>
              <a:ext uri="{FF2B5EF4-FFF2-40B4-BE49-F238E27FC236}">
                <a16:creationId xmlns:a16="http://schemas.microsoft.com/office/drawing/2014/main" id="{61DB4D7C-F914-A8B9-9ED7-66CC58753E1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1" y="3382963"/>
            <a:ext cx="42116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Line 13">
            <a:extLst>
              <a:ext uri="{FF2B5EF4-FFF2-40B4-BE49-F238E27FC236}">
                <a16:creationId xmlns:a16="http://schemas.microsoft.com/office/drawing/2014/main" id="{E81E598C-524C-DE72-0F31-F5F63D14C14F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1" y="3840163"/>
            <a:ext cx="42116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Line 14">
            <a:extLst>
              <a:ext uri="{FF2B5EF4-FFF2-40B4-BE49-F238E27FC236}">
                <a16:creationId xmlns:a16="http://schemas.microsoft.com/office/drawing/2014/main" id="{CC721A51-F8BD-C30A-EA00-38970EC165C0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1" y="4298951"/>
            <a:ext cx="42116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FF907EE9-558E-BCC1-30E0-B7F6A98F9C84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1" y="4756151"/>
            <a:ext cx="42116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Line 16">
            <a:extLst>
              <a:ext uri="{FF2B5EF4-FFF2-40B4-BE49-F238E27FC236}">
                <a16:creationId xmlns:a16="http://schemas.microsoft.com/office/drawing/2014/main" id="{DB7E12C4-7F0D-4075-0517-ABBE99EAF536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1" y="5213351"/>
            <a:ext cx="42116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B9C75BDD-FA29-FDA7-C156-A33FE5D46BB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1" y="5670551"/>
            <a:ext cx="42116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Line 18">
            <a:extLst>
              <a:ext uri="{FF2B5EF4-FFF2-40B4-BE49-F238E27FC236}">
                <a16:creationId xmlns:a16="http://schemas.microsoft.com/office/drawing/2014/main" id="{0B14D6F7-6A40-CF59-A2D3-5FDFDC50F36C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751" y="631826"/>
            <a:ext cx="0" cy="5502275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Line 19">
            <a:extLst>
              <a:ext uri="{FF2B5EF4-FFF2-40B4-BE49-F238E27FC236}">
                <a16:creationId xmlns:a16="http://schemas.microsoft.com/office/drawing/2014/main" id="{8EA63856-CBF4-A45A-3563-28E5EC8463C9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8688" y="631826"/>
            <a:ext cx="0" cy="5502275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Line 20">
            <a:extLst>
              <a:ext uri="{FF2B5EF4-FFF2-40B4-BE49-F238E27FC236}">
                <a16:creationId xmlns:a16="http://schemas.microsoft.com/office/drawing/2014/main" id="{EDA83111-E490-1A23-B207-03D4174BC9BB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1" y="638176"/>
            <a:ext cx="42116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Line 21">
            <a:extLst>
              <a:ext uri="{FF2B5EF4-FFF2-40B4-BE49-F238E27FC236}">
                <a16:creationId xmlns:a16="http://schemas.microsoft.com/office/drawing/2014/main" id="{F9EA3ACE-F601-72C8-5071-FEC0D16CEE7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1" y="6127751"/>
            <a:ext cx="42116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Rectangle 22">
            <a:extLst>
              <a:ext uri="{FF2B5EF4-FFF2-40B4-BE49-F238E27FC236}">
                <a16:creationId xmlns:a16="http://schemas.microsoft.com/office/drawing/2014/main" id="{D5B20FC7-A8E4-79FF-AAEF-7472A1646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26" y="677863"/>
            <a:ext cx="96202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Model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23FDE713-A1EF-1761-4672-1CD715E33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9738" y="677863"/>
            <a:ext cx="40640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P(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24">
            <a:extLst>
              <a:ext uri="{FF2B5EF4-FFF2-40B4-BE49-F238E27FC236}">
                <a16:creationId xmlns:a16="http://schemas.microsoft.com/office/drawing/2014/main" id="{88DF94D5-90A2-D531-D77B-F6F7445EB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0563" y="677863"/>
            <a:ext cx="88620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 err="1">
                <a:solidFill>
                  <a:srgbClr val="000000"/>
                </a:solidFill>
                <a:latin typeface="Calibri" panose="020F0502020204030204" pitchFamily="34" charset="0"/>
              </a:rPr>
              <a:t>d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ata|H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Rectangle 25">
            <a:extLst>
              <a:ext uri="{FF2B5EF4-FFF2-40B4-BE49-F238E27FC236}">
                <a16:creationId xmlns:a16="http://schemas.microsoft.com/office/drawing/2014/main" id="{C74FB611-A8E3-E408-CA41-A87BA9617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0038" y="677863"/>
            <a:ext cx="249238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Freeform 26">
            <a:extLst>
              <a:ext uri="{FF2B5EF4-FFF2-40B4-BE49-F238E27FC236}">
                <a16:creationId xmlns:a16="http://schemas.microsoft.com/office/drawing/2014/main" id="{362DC982-79E0-B91E-F4FF-59F32771464E}"/>
              </a:ext>
            </a:extLst>
          </p:cNvPr>
          <p:cNvSpPr>
            <a:spLocks noEditPoints="1"/>
          </p:cNvSpPr>
          <p:nvPr/>
        </p:nvSpPr>
        <p:spPr bwMode="auto">
          <a:xfrm>
            <a:off x="3167063" y="809626"/>
            <a:ext cx="184150" cy="149225"/>
          </a:xfrm>
          <a:custGeom>
            <a:avLst/>
            <a:gdLst>
              <a:gd name="T0" fmla="*/ 517 w 1936"/>
              <a:gd name="T1" fmla="*/ 339 h 1559"/>
              <a:gd name="T2" fmla="*/ 351 w 1936"/>
              <a:gd name="T3" fmla="*/ 386 h 1559"/>
              <a:gd name="T4" fmla="*/ 233 w 1936"/>
              <a:gd name="T5" fmla="*/ 531 h 1559"/>
              <a:gd name="T6" fmla="*/ 189 w 1936"/>
              <a:gd name="T7" fmla="*/ 772 h 1559"/>
              <a:gd name="T8" fmla="*/ 235 w 1936"/>
              <a:gd name="T9" fmla="*/ 1031 h 1559"/>
              <a:gd name="T10" fmla="*/ 355 w 1936"/>
              <a:gd name="T11" fmla="*/ 1176 h 1559"/>
              <a:gd name="T12" fmla="*/ 517 w 1936"/>
              <a:gd name="T13" fmla="*/ 1219 h 1559"/>
              <a:gd name="T14" fmla="*/ 773 w 1936"/>
              <a:gd name="T15" fmla="*/ 1112 h 1559"/>
              <a:gd name="T16" fmla="*/ 1012 w 1936"/>
              <a:gd name="T17" fmla="*/ 781 h 1559"/>
              <a:gd name="T18" fmla="*/ 759 w 1936"/>
              <a:gd name="T19" fmla="*/ 441 h 1559"/>
              <a:gd name="T20" fmla="*/ 517 w 1936"/>
              <a:gd name="T21" fmla="*/ 339 h 1559"/>
              <a:gd name="T22" fmla="*/ 1800 w 1936"/>
              <a:gd name="T23" fmla="*/ 0 h 1559"/>
              <a:gd name="T24" fmla="*/ 1934 w 1936"/>
              <a:gd name="T25" fmla="*/ 14 h 1559"/>
              <a:gd name="T26" fmla="*/ 1884 w 1936"/>
              <a:gd name="T27" fmla="*/ 256 h 1559"/>
              <a:gd name="T28" fmla="*/ 1797 w 1936"/>
              <a:gd name="T29" fmla="*/ 248 h 1559"/>
              <a:gd name="T30" fmla="*/ 1607 w 1936"/>
              <a:gd name="T31" fmla="*/ 297 h 1559"/>
              <a:gd name="T32" fmla="*/ 1437 w 1936"/>
              <a:gd name="T33" fmla="*/ 456 h 1559"/>
              <a:gd name="T34" fmla="*/ 1228 w 1936"/>
              <a:gd name="T35" fmla="*/ 781 h 1559"/>
              <a:gd name="T36" fmla="*/ 1377 w 1936"/>
              <a:gd name="T37" fmla="*/ 1035 h 1559"/>
              <a:gd name="T38" fmla="*/ 1516 w 1936"/>
              <a:gd name="T39" fmla="*/ 1199 h 1559"/>
              <a:gd name="T40" fmla="*/ 1650 w 1936"/>
              <a:gd name="T41" fmla="*/ 1285 h 1559"/>
              <a:gd name="T42" fmla="*/ 1798 w 1936"/>
              <a:gd name="T43" fmla="*/ 1313 h 1559"/>
              <a:gd name="T44" fmla="*/ 1883 w 1936"/>
              <a:gd name="T45" fmla="*/ 1306 h 1559"/>
              <a:gd name="T46" fmla="*/ 1936 w 1936"/>
              <a:gd name="T47" fmla="*/ 1534 h 1559"/>
              <a:gd name="T48" fmla="*/ 1755 w 1936"/>
              <a:gd name="T49" fmla="*/ 1559 h 1559"/>
              <a:gd name="T50" fmla="*/ 1406 w 1936"/>
              <a:gd name="T51" fmla="*/ 1420 h 1559"/>
              <a:gd name="T52" fmla="*/ 1120 w 1936"/>
              <a:gd name="T53" fmla="*/ 978 h 1559"/>
              <a:gd name="T54" fmla="*/ 821 w 1936"/>
              <a:gd name="T55" fmla="*/ 1352 h 1559"/>
              <a:gd name="T56" fmla="*/ 501 w 1936"/>
              <a:gd name="T57" fmla="*/ 1466 h 1559"/>
              <a:gd name="T58" fmla="*/ 238 w 1936"/>
              <a:gd name="T59" fmla="*/ 1375 h 1559"/>
              <a:gd name="T60" fmla="*/ 62 w 1936"/>
              <a:gd name="T61" fmla="*/ 1129 h 1559"/>
              <a:gd name="T62" fmla="*/ 0 w 1936"/>
              <a:gd name="T63" fmla="*/ 784 h 1559"/>
              <a:gd name="T64" fmla="*/ 69 w 1936"/>
              <a:gd name="T65" fmla="*/ 431 h 1559"/>
              <a:gd name="T66" fmla="*/ 255 w 1936"/>
              <a:gd name="T67" fmla="*/ 181 h 1559"/>
              <a:gd name="T68" fmla="*/ 517 w 1936"/>
              <a:gd name="T69" fmla="*/ 92 h 1559"/>
              <a:gd name="T70" fmla="*/ 735 w 1936"/>
              <a:gd name="T71" fmla="*/ 140 h 1559"/>
              <a:gd name="T72" fmla="*/ 918 w 1936"/>
              <a:gd name="T73" fmla="*/ 289 h 1559"/>
              <a:gd name="T74" fmla="*/ 1120 w 1936"/>
              <a:gd name="T75" fmla="*/ 584 h 1559"/>
              <a:gd name="T76" fmla="*/ 1324 w 1936"/>
              <a:gd name="T77" fmla="*/ 254 h 1559"/>
              <a:gd name="T78" fmla="*/ 1534 w 1936"/>
              <a:gd name="T79" fmla="*/ 62 h 1559"/>
              <a:gd name="T80" fmla="*/ 1800 w 1936"/>
              <a:gd name="T81" fmla="*/ 0 h 15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936" h="1559">
                <a:moveTo>
                  <a:pt x="517" y="339"/>
                </a:moveTo>
                <a:cubicBezTo>
                  <a:pt x="456" y="339"/>
                  <a:pt x="400" y="355"/>
                  <a:pt x="351" y="386"/>
                </a:cubicBezTo>
                <a:cubicBezTo>
                  <a:pt x="301" y="417"/>
                  <a:pt x="262" y="465"/>
                  <a:pt x="233" y="531"/>
                </a:cubicBezTo>
                <a:cubicBezTo>
                  <a:pt x="204" y="596"/>
                  <a:pt x="189" y="676"/>
                  <a:pt x="189" y="772"/>
                </a:cubicBezTo>
                <a:cubicBezTo>
                  <a:pt x="189" y="877"/>
                  <a:pt x="204" y="964"/>
                  <a:pt x="235" y="1031"/>
                </a:cubicBezTo>
                <a:cubicBezTo>
                  <a:pt x="266" y="1099"/>
                  <a:pt x="306" y="1147"/>
                  <a:pt x="355" y="1176"/>
                </a:cubicBezTo>
                <a:cubicBezTo>
                  <a:pt x="404" y="1204"/>
                  <a:pt x="458" y="1219"/>
                  <a:pt x="517" y="1219"/>
                </a:cubicBezTo>
                <a:cubicBezTo>
                  <a:pt x="607" y="1219"/>
                  <a:pt x="692" y="1183"/>
                  <a:pt x="773" y="1112"/>
                </a:cubicBezTo>
                <a:cubicBezTo>
                  <a:pt x="853" y="1040"/>
                  <a:pt x="933" y="930"/>
                  <a:pt x="1012" y="781"/>
                </a:cubicBezTo>
                <a:cubicBezTo>
                  <a:pt x="921" y="622"/>
                  <a:pt x="836" y="508"/>
                  <a:pt x="759" y="441"/>
                </a:cubicBezTo>
                <a:cubicBezTo>
                  <a:pt x="682" y="373"/>
                  <a:pt x="601" y="339"/>
                  <a:pt x="517" y="339"/>
                </a:cubicBezTo>
                <a:close/>
                <a:moveTo>
                  <a:pt x="1800" y="0"/>
                </a:moveTo>
                <a:cubicBezTo>
                  <a:pt x="1852" y="0"/>
                  <a:pt x="1897" y="5"/>
                  <a:pt x="1934" y="14"/>
                </a:cubicBezTo>
                <a:lnTo>
                  <a:pt x="1884" y="256"/>
                </a:lnTo>
                <a:cubicBezTo>
                  <a:pt x="1853" y="251"/>
                  <a:pt x="1824" y="248"/>
                  <a:pt x="1797" y="248"/>
                </a:cubicBezTo>
                <a:cubicBezTo>
                  <a:pt x="1726" y="248"/>
                  <a:pt x="1663" y="265"/>
                  <a:pt x="1607" y="297"/>
                </a:cubicBezTo>
                <a:cubicBezTo>
                  <a:pt x="1551" y="329"/>
                  <a:pt x="1494" y="382"/>
                  <a:pt x="1437" y="456"/>
                </a:cubicBezTo>
                <a:cubicBezTo>
                  <a:pt x="1379" y="530"/>
                  <a:pt x="1309" y="639"/>
                  <a:pt x="1228" y="781"/>
                </a:cubicBezTo>
                <a:cubicBezTo>
                  <a:pt x="1279" y="880"/>
                  <a:pt x="1329" y="965"/>
                  <a:pt x="1377" y="1035"/>
                </a:cubicBezTo>
                <a:cubicBezTo>
                  <a:pt x="1426" y="1106"/>
                  <a:pt x="1472" y="1160"/>
                  <a:pt x="1516" y="1199"/>
                </a:cubicBezTo>
                <a:cubicBezTo>
                  <a:pt x="1561" y="1238"/>
                  <a:pt x="1605" y="1267"/>
                  <a:pt x="1650" y="1285"/>
                </a:cubicBezTo>
                <a:cubicBezTo>
                  <a:pt x="1695" y="1303"/>
                  <a:pt x="1744" y="1313"/>
                  <a:pt x="1798" y="1313"/>
                </a:cubicBezTo>
                <a:cubicBezTo>
                  <a:pt x="1831" y="1313"/>
                  <a:pt x="1859" y="1310"/>
                  <a:pt x="1883" y="1306"/>
                </a:cubicBezTo>
                <a:lnTo>
                  <a:pt x="1936" y="1534"/>
                </a:lnTo>
                <a:cubicBezTo>
                  <a:pt x="1869" y="1551"/>
                  <a:pt x="1809" y="1559"/>
                  <a:pt x="1755" y="1559"/>
                </a:cubicBezTo>
                <a:cubicBezTo>
                  <a:pt x="1621" y="1559"/>
                  <a:pt x="1505" y="1513"/>
                  <a:pt x="1406" y="1420"/>
                </a:cubicBezTo>
                <a:cubicBezTo>
                  <a:pt x="1307" y="1328"/>
                  <a:pt x="1212" y="1180"/>
                  <a:pt x="1120" y="978"/>
                </a:cubicBezTo>
                <a:cubicBezTo>
                  <a:pt x="1018" y="1151"/>
                  <a:pt x="918" y="1276"/>
                  <a:pt x="821" y="1352"/>
                </a:cubicBezTo>
                <a:cubicBezTo>
                  <a:pt x="724" y="1428"/>
                  <a:pt x="617" y="1466"/>
                  <a:pt x="501" y="1466"/>
                </a:cubicBezTo>
                <a:cubicBezTo>
                  <a:pt x="403" y="1466"/>
                  <a:pt x="315" y="1435"/>
                  <a:pt x="238" y="1375"/>
                </a:cubicBezTo>
                <a:cubicBezTo>
                  <a:pt x="162" y="1315"/>
                  <a:pt x="103" y="1233"/>
                  <a:pt x="62" y="1129"/>
                </a:cubicBezTo>
                <a:cubicBezTo>
                  <a:pt x="21" y="1025"/>
                  <a:pt x="0" y="910"/>
                  <a:pt x="0" y="784"/>
                </a:cubicBezTo>
                <a:cubicBezTo>
                  <a:pt x="0" y="656"/>
                  <a:pt x="23" y="538"/>
                  <a:pt x="69" y="431"/>
                </a:cubicBezTo>
                <a:cubicBezTo>
                  <a:pt x="115" y="323"/>
                  <a:pt x="176" y="239"/>
                  <a:pt x="255" y="181"/>
                </a:cubicBezTo>
                <a:cubicBezTo>
                  <a:pt x="333" y="122"/>
                  <a:pt x="420" y="92"/>
                  <a:pt x="517" y="92"/>
                </a:cubicBezTo>
                <a:cubicBezTo>
                  <a:pt x="599" y="92"/>
                  <a:pt x="672" y="108"/>
                  <a:pt x="735" y="140"/>
                </a:cubicBezTo>
                <a:cubicBezTo>
                  <a:pt x="798" y="172"/>
                  <a:pt x="859" y="221"/>
                  <a:pt x="918" y="289"/>
                </a:cubicBezTo>
                <a:cubicBezTo>
                  <a:pt x="977" y="357"/>
                  <a:pt x="1044" y="455"/>
                  <a:pt x="1120" y="584"/>
                </a:cubicBezTo>
                <a:cubicBezTo>
                  <a:pt x="1190" y="451"/>
                  <a:pt x="1258" y="341"/>
                  <a:pt x="1324" y="254"/>
                </a:cubicBezTo>
                <a:cubicBezTo>
                  <a:pt x="1390" y="167"/>
                  <a:pt x="1460" y="103"/>
                  <a:pt x="1534" y="62"/>
                </a:cubicBezTo>
                <a:cubicBezTo>
                  <a:pt x="1607" y="21"/>
                  <a:pt x="1696" y="0"/>
                  <a:pt x="1800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Rectangle 27">
            <a:extLst>
              <a:ext uri="{FF2B5EF4-FFF2-40B4-BE49-F238E27FC236}">
                <a16:creationId xmlns:a16="http://schemas.microsoft.com/office/drawing/2014/main" id="{0F79AD2E-346D-1F34-F86F-D9B761BE4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2176" y="679451"/>
            <a:ext cx="3794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L(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Rectangle 28">
            <a:extLst>
              <a:ext uri="{FF2B5EF4-FFF2-40B4-BE49-F238E27FC236}">
                <a16:creationId xmlns:a16="http://schemas.microsoft.com/office/drawing/2014/main" id="{F1DB127B-8574-806B-5B65-CBF0D3D0B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2838" y="679451"/>
            <a:ext cx="1042988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H|data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Rectangle 29">
            <a:extLst>
              <a:ext uri="{FF2B5EF4-FFF2-40B4-BE49-F238E27FC236}">
                <a16:creationId xmlns:a16="http://schemas.microsoft.com/office/drawing/2014/main" id="{523A09C5-94B9-9A65-DE35-7F0179B02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2313" y="679451"/>
            <a:ext cx="25082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Rectangle 30">
            <a:extLst>
              <a:ext uri="{FF2B5EF4-FFF2-40B4-BE49-F238E27FC236}">
                <a16:creationId xmlns:a16="http://schemas.microsoft.com/office/drawing/2014/main" id="{E65FB815-EF17-1C6E-D594-7B085F7FF4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1135063"/>
            <a:ext cx="563563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0.0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Rectangle 33">
            <a:extLst>
              <a:ext uri="{FF2B5EF4-FFF2-40B4-BE49-F238E27FC236}">
                <a16:creationId xmlns:a16="http://schemas.microsoft.com/office/drawing/2014/main" id="{8D0721D9-C5B6-3457-8C6D-9A5C13E26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1595438"/>
            <a:ext cx="5445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0.1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Rectangle 36">
            <a:extLst>
              <a:ext uri="{FF2B5EF4-FFF2-40B4-BE49-F238E27FC236}">
                <a16:creationId xmlns:a16="http://schemas.microsoft.com/office/drawing/2014/main" id="{8D081650-9276-DF84-DC0A-A3C2F50DC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2052638"/>
            <a:ext cx="5445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0.2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Rectangle 39">
            <a:extLst>
              <a:ext uri="{FF2B5EF4-FFF2-40B4-BE49-F238E27FC236}">
                <a16:creationId xmlns:a16="http://schemas.microsoft.com/office/drawing/2014/main" id="{D1D79C5C-CC10-E441-70C2-2D7B4C6F7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2509838"/>
            <a:ext cx="5445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0.3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" name="Rectangle 42">
            <a:extLst>
              <a:ext uri="{FF2B5EF4-FFF2-40B4-BE49-F238E27FC236}">
                <a16:creationId xmlns:a16="http://schemas.microsoft.com/office/drawing/2014/main" id="{6AD25091-B619-A04F-58E6-AC62F17C4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2967038"/>
            <a:ext cx="5445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0.4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7" name="Rectangle 45">
            <a:extLst>
              <a:ext uri="{FF2B5EF4-FFF2-40B4-BE49-F238E27FC236}">
                <a16:creationId xmlns:a16="http://schemas.microsoft.com/office/drawing/2014/main" id="{D7C715A3-E107-201A-B24D-6D67F5090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3422651"/>
            <a:ext cx="5445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0.5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0" name="Rectangle 48">
            <a:extLst>
              <a:ext uri="{FF2B5EF4-FFF2-40B4-BE49-F238E27FC236}">
                <a16:creationId xmlns:a16="http://schemas.microsoft.com/office/drawing/2014/main" id="{09D7E85A-F6CC-11F7-61A1-3BB6F045F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3879851"/>
            <a:ext cx="5445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0.6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3" name="Rectangle 51">
            <a:extLst>
              <a:ext uri="{FF2B5EF4-FFF2-40B4-BE49-F238E27FC236}">
                <a16:creationId xmlns:a16="http://schemas.microsoft.com/office/drawing/2014/main" id="{D1DA00DE-8BAD-FE21-B90E-7CAFBE8E4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4337051"/>
            <a:ext cx="563563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0.7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6" name="Rectangle 54">
            <a:extLst>
              <a:ext uri="{FF2B5EF4-FFF2-40B4-BE49-F238E27FC236}">
                <a16:creationId xmlns:a16="http://schemas.microsoft.com/office/drawing/2014/main" id="{8B12B4F2-7745-5B5D-E95C-69829D108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4797426"/>
            <a:ext cx="5445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0.8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9" name="Rectangle 57">
            <a:extLst>
              <a:ext uri="{FF2B5EF4-FFF2-40B4-BE49-F238E27FC236}">
                <a16:creationId xmlns:a16="http://schemas.microsoft.com/office/drawing/2014/main" id="{FDE44C15-2929-6739-8FB4-0D366EBE9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5254626"/>
            <a:ext cx="5445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0.9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2" name="Rectangle 60">
            <a:extLst>
              <a:ext uri="{FF2B5EF4-FFF2-40B4-BE49-F238E27FC236}">
                <a16:creationId xmlns:a16="http://schemas.microsoft.com/office/drawing/2014/main" id="{416ECBA5-5188-0347-E1EF-4798A6428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5711826"/>
            <a:ext cx="5445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1.0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2AFA0E-05E5-D95C-0D6B-5A5A142AB259}"/>
              </a:ext>
            </a:extLst>
          </p:cNvPr>
          <p:cNvSpPr txBox="1"/>
          <p:nvPr/>
        </p:nvSpPr>
        <p:spPr>
          <a:xfrm>
            <a:off x="1940528" y="115915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559F9E-1A0F-7F35-8BE9-6483D5C6A11A}"/>
              </a:ext>
            </a:extLst>
          </p:cNvPr>
          <p:cNvSpPr txBox="1"/>
          <p:nvPr/>
        </p:nvSpPr>
        <p:spPr>
          <a:xfrm>
            <a:off x="1924653" y="1598877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0.2916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A326B7D-4612-3380-5AEE-8A61411B6C56}"/>
              </a:ext>
            </a:extLst>
          </p:cNvPr>
          <p:cNvSpPr txBox="1"/>
          <p:nvPr/>
        </p:nvSpPr>
        <p:spPr>
          <a:xfrm>
            <a:off x="1908778" y="2051051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0.4096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D9D5482-704C-B9C5-FA14-BC5FF4A07196}"/>
              </a:ext>
            </a:extLst>
          </p:cNvPr>
          <p:cNvSpPr txBox="1"/>
          <p:nvPr/>
        </p:nvSpPr>
        <p:spPr>
          <a:xfrm>
            <a:off x="1908778" y="2502457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0.4116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5C7A7D5-6020-75BC-1F93-145EE74749EF}"/>
              </a:ext>
            </a:extLst>
          </p:cNvPr>
          <p:cNvSpPr txBox="1"/>
          <p:nvPr/>
        </p:nvSpPr>
        <p:spPr>
          <a:xfrm>
            <a:off x="1906220" y="2966227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0.3456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729B31E-08CD-249A-FB7B-DA3B587F3E9E}"/>
              </a:ext>
            </a:extLst>
          </p:cNvPr>
          <p:cNvSpPr txBox="1"/>
          <p:nvPr/>
        </p:nvSpPr>
        <p:spPr>
          <a:xfrm>
            <a:off x="1906219" y="3429001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0.2500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424C6A9-6ED7-5D09-305F-410167A0D7C8}"/>
              </a:ext>
            </a:extLst>
          </p:cNvPr>
          <p:cNvSpPr txBox="1"/>
          <p:nvPr/>
        </p:nvSpPr>
        <p:spPr>
          <a:xfrm>
            <a:off x="1878059" y="3893107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0.1536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7F7399-85E7-C561-2A24-E1162893C650}"/>
              </a:ext>
            </a:extLst>
          </p:cNvPr>
          <p:cNvSpPr txBox="1"/>
          <p:nvPr/>
        </p:nvSpPr>
        <p:spPr>
          <a:xfrm>
            <a:off x="1906218" y="4369873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0.0756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3D4C545-057C-10A0-884B-3B29F8D740A4}"/>
              </a:ext>
            </a:extLst>
          </p:cNvPr>
          <p:cNvSpPr txBox="1"/>
          <p:nvPr/>
        </p:nvSpPr>
        <p:spPr>
          <a:xfrm>
            <a:off x="1903660" y="4810126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0.0256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4FD37C5-FA00-8B11-A1FE-6EE37688949A}"/>
              </a:ext>
            </a:extLst>
          </p:cNvPr>
          <p:cNvSpPr txBox="1"/>
          <p:nvPr/>
        </p:nvSpPr>
        <p:spPr>
          <a:xfrm>
            <a:off x="1875501" y="5233432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0.0036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3A4897-C129-6DA4-A271-B80A052B6820}"/>
              </a:ext>
            </a:extLst>
          </p:cNvPr>
          <p:cNvSpPr txBox="1"/>
          <p:nvPr/>
        </p:nvSpPr>
        <p:spPr>
          <a:xfrm>
            <a:off x="1874648" y="5722695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0.0000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774002-BD2C-852A-1F3C-7CB92FAF0CA7}"/>
              </a:ext>
            </a:extLst>
          </p:cNvPr>
          <p:cNvSpPr txBox="1"/>
          <p:nvPr/>
        </p:nvSpPr>
        <p:spPr>
          <a:xfrm>
            <a:off x="3426428" y="115915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0.000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6D75614-C17F-9F34-92B6-48E04CD898CE}"/>
              </a:ext>
            </a:extLst>
          </p:cNvPr>
          <p:cNvSpPr txBox="1"/>
          <p:nvPr/>
        </p:nvSpPr>
        <p:spPr>
          <a:xfrm>
            <a:off x="3410553" y="1598877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0.2916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6A811F4-28FB-D3F1-29EB-44347AC4349A}"/>
              </a:ext>
            </a:extLst>
          </p:cNvPr>
          <p:cNvSpPr txBox="1"/>
          <p:nvPr/>
        </p:nvSpPr>
        <p:spPr>
          <a:xfrm>
            <a:off x="3394678" y="2051051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0.4096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07054EA-6E54-CA98-69F0-65C70C7C400C}"/>
              </a:ext>
            </a:extLst>
          </p:cNvPr>
          <p:cNvSpPr txBox="1"/>
          <p:nvPr/>
        </p:nvSpPr>
        <p:spPr>
          <a:xfrm>
            <a:off x="3394678" y="2502457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0.4116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9513BA9-0E56-C671-7170-53742EECBF43}"/>
              </a:ext>
            </a:extLst>
          </p:cNvPr>
          <p:cNvSpPr txBox="1"/>
          <p:nvPr/>
        </p:nvSpPr>
        <p:spPr>
          <a:xfrm>
            <a:off x="3392120" y="2966227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0.3456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4A2C58D-CE2D-96FD-D3D1-8795CBFFB9C9}"/>
              </a:ext>
            </a:extLst>
          </p:cNvPr>
          <p:cNvSpPr txBox="1"/>
          <p:nvPr/>
        </p:nvSpPr>
        <p:spPr>
          <a:xfrm>
            <a:off x="3392119" y="3429001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0.2500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95D51E5-C305-72F9-E199-E0D1777EE53D}"/>
              </a:ext>
            </a:extLst>
          </p:cNvPr>
          <p:cNvSpPr txBox="1"/>
          <p:nvPr/>
        </p:nvSpPr>
        <p:spPr>
          <a:xfrm>
            <a:off x="3363959" y="3893107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0.1536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26CBE1B-82A0-123C-7585-894D97DC716E}"/>
              </a:ext>
            </a:extLst>
          </p:cNvPr>
          <p:cNvSpPr txBox="1"/>
          <p:nvPr/>
        </p:nvSpPr>
        <p:spPr>
          <a:xfrm>
            <a:off x="3392118" y="4369873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0.0756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5C0047-DFAF-E466-9D82-11B099E0AD6F}"/>
              </a:ext>
            </a:extLst>
          </p:cNvPr>
          <p:cNvSpPr txBox="1"/>
          <p:nvPr/>
        </p:nvSpPr>
        <p:spPr>
          <a:xfrm>
            <a:off x="3389560" y="4810126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0.0256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B38649C-CF61-3BBC-52A4-BCBE38F45FC4}"/>
              </a:ext>
            </a:extLst>
          </p:cNvPr>
          <p:cNvSpPr txBox="1"/>
          <p:nvPr/>
        </p:nvSpPr>
        <p:spPr>
          <a:xfrm>
            <a:off x="3361401" y="5233432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0.0036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C449313-E11D-2865-4EC0-08A0443A1C02}"/>
              </a:ext>
            </a:extLst>
          </p:cNvPr>
          <p:cNvSpPr txBox="1"/>
          <p:nvPr/>
        </p:nvSpPr>
        <p:spPr>
          <a:xfrm>
            <a:off x="3360548" y="5722695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B0C4172-C8B1-51FD-6256-6BFF02961533}"/>
                  </a:ext>
                </a:extLst>
              </p:cNvPr>
              <p:cNvSpPr txBox="1"/>
              <p:nvPr/>
            </p:nvSpPr>
            <p:spPr>
              <a:xfrm>
                <a:off x="9084175" y="2522487"/>
                <a:ext cx="122822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i="1" smtClean="0">
                              <a:solidFill>
                                <a:srgbClr val="0054DD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rgbClr val="0054DD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en-US" sz="2400" i="1" smtClean="0">
                          <a:solidFill>
                            <a:srgbClr val="0054D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2400" b="0" i="1" smtClean="0">
                          <a:solidFill>
                            <a:srgbClr val="0054D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326AD8A-D2DB-F4D6-5AEB-C510758C3B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4175" y="2522487"/>
                <a:ext cx="1228221" cy="461665"/>
              </a:xfrm>
              <a:prstGeom prst="rect">
                <a:avLst/>
              </a:prstGeom>
              <a:blipFill>
                <a:blip r:embed="rId4"/>
                <a:stretch>
                  <a:fillRect t="-2632"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0582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71690" y="275431"/>
            <a:ext cx="70934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/>
          </a:p>
          <a:p>
            <a:r>
              <a:rPr lang="en-US" sz="2800" dirty="0"/>
              <a:t>Likelihood profile:</a:t>
            </a:r>
          </a:p>
          <a:p>
            <a:pPr lvl="1"/>
            <a:r>
              <a:rPr lang="en-US" sz="2800" dirty="0"/>
              <a:t>DATA: 4 people, 0 death metal fans</a:t>
            </a:r>
          </a:p>
          <a:p>
            <a:pPr lvl="1"/>
            <a:r>
              <a:rPr lang="en-US" sz="2800" dirty="0"/>
              <a:t>MODELS: values of the proportion who prefer death metal</a:t>
            </a:r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5936795D-C3F5-4BDA-8EA9-FCA698E6DB68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31813" y="592138"/>
            <a:ext cx="4219575" cy="567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D8EE1CF1-B9A3-424B-874A-ACF9EBEB1E23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7663" y="631826"/>
            <a:ext cx="0" cy="5502275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FF363E7C-E0D2-4615-8828-451B115417A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9113" y="631826"/>
            <a:ext cx="0" cy="5502275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Line 7">
            <a:extLst>
              <a:ext uri="{FF2B5EF4-FFF2-40B4-BE49-F238E27FC236}">
                <a16:creationId xmlns:a16="http://schemas.microsoft.com/office/drawing/2014/main" id="{B79F8BB3-EF18-4D7D-B4FF-0DF2A6580F4C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1" y="1096963"/>
            <a:ext cx="42116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07F40188-E95E-44AB-B62A-DBCF535B2A9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1" y="1554163"/>
            <a:ext cx="42116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AD82617A-C992-4394-83C1-C8B2B63F84E5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1" y="2011363"/>
            <a:ext cx="42116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C2E9E153-CE0E-4509-B710-61CB3C8E0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1" y="2468563"/>
            <a:ext cx="42116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Line 11">
            <a:extLst>
              <a:ext uri="{FF2B5EF4-FFF2-40B4-BE49-F238E27FC236}">
                <a16:creationId xmlns:a16="http://schemas.microsoft.com/office/drawing/2014/main" id="{D3AF7482-1A5E-4A6C-8AAC-12FE238E6E04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1" y="2925763"/>
            <a:ext cx="42116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Line 12">
            <a:extLst>
              <a:ext uri="{FF2B5EF4-FFF2-40B4-BE49-F238E27FC236}">
                <a16:creationId xmlns:a16="http://schemas.microsoft.com/office/drawing/2014/main" id="{B23176CF-15B8-4DD0-A39E-F54AB6CCB19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1" y="3382963"/>
            <a:ext cx="42116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Line 13">
            <a:extLst>
              <a:ext uri="{FF2B5EF4-FFF2-40B4-BE49-F238E27FC236}">
                <a16:creationId xmlns:a16="http://schemas.microsoft.com/office/drawing/2014/main" id="{D2D8CF61-7926-4FCA-8AC8-548AC7DD61A5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1" y="3840163"/>
            <a:ext cx="42116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Line 14">
            <a:extLst>
              <a:ext uri="{FF2B5EF4-FFF2-40B4-BE49-F238E27FC236}">
                <a16:creationId xmlns:a16="http://schemas.microsoft.com/office/drawing/2014/main" id="{2075AC84-5B17-4712-A9FB-7106AEF38ED8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1" y="4298951"/>
            <a:ext cx="42116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7401F02E-23D3-4DF1-A195-8E15784625EB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1" y="4756151"/>
            <a:ext cx="42116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Line 16">
            <a:extLst>
              <a:ext uri="{FF2B5EF4-FFF2-40B4-BE49-F238E27FC236}">
                <a16:creationId xmlns:a16="http://schemas.microsoft.com/office/drawing/2014/main" id="{CC17ED35-7CFE-474A-A928-2FE5740BF1FD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1" y="5213351"/>
            <a:ext cx="42116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4E14A33B-D7B7-4CBB-9895-5146EEE5A7B5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1" y="5670551"/>
            <a:ext cx="42116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Line 18">
            <a:extLst>
              <a:ext uri="{FF2B5EF4-FFF2-40B4-BE49-F238E27FC236}">
                <a16:creationId xmlns:a16="http://schemas.microsoft.com/office/drawing/2014/main" id="{EDF344BE-C7DD-4BAF-8EB9-FE90A6B3E978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751" y="631826"/>
            <a:ext cx="0" cy="5502275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Line 19">
            <a:extLst>
              <a:ext uri="{FF2B5EF4-FFF2-40B4-BE49-F238E27FC236}">
                <a16:creationId xmlns:a16="http://schemas.microsoft.com/office/drawing/2014/main" id="{42901FDA-CCD7-4A2F-9A5E-924D17CB84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8688" y="631826"/>
            <a:ext cx="0" cy="5502275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Line 20">
            <a:extLst>
              <a:ext uri="{FF2B5EF4-FFF2-40B4-BE49-F238E27FC236}">
                <a16:creationId xmlns:a16="http://schemas.microsoft.com/office/drawing/2014/main" id="{4ACE21D2-13DE-4DC0-AEDE-712DD0BFD14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1" y="638176"/>
            <a:ext cx="42116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Line 21">
            <a:extLst>
              <a:ext uri="{FF2B5EF4-FFF2-40B4-BE49-F238E27FC236}">
                <a16:creationId xmlns:a16="http://schemas.microsoft.com/office/drawing/2014/main" id="{A10E14DC-F8C9-4D23-906C-DD76F32C7F1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1" y="6127751"/>
            <a:ext cx="42116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Rectangle 22">
            <a:extLst>
              <a:ext uri="{FF2B5EF4-FFF2-40B4-BE49-F238E27FC236}">
                <a16:creationId xmlns:a16="http://schemas.microsoft.com/office/drawing/2014/main" id="{DB39959E-67F1-40B7-B2A9-47DBC9F819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26" y="677863"/>
            <a:ext cx="96202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Model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46668CFB-E12B-4AD7-AAED-24930157F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9738" y="677863"/>
            <a:ext cx="40640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P(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24">
            <a:extLst>
              <a:ext uri="{FF2B5EF4-FFF2-40B4-BE49-F238E27FC236}">
                <a16:creationId xmlns:a16="http://schemas.microsoft.com/office/drawing/2014/main" id="{D3AC289A-A72B-4662-A030-7CFE2250F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0563" y="677863"/>
            <a:ext cx="88620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 err="1">
                <a:solidFill>
                  <a:srgbClr val="000000"/>
                </a:solidFill>
                <a:latin typeface="Calibri" panose="020F0502020204030204" pitchFamily="34" charset="0"/>
              </a:rPr>
              <a:t>d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ata|H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Rectangle 25">
            <a:extLst>
              <a:ext uri="{FF2B5EF4-FFF2-40B4-BE49-F238E27FC236}">
                <a16:creationId xmlns:a16="http://schemas.microsoft.com/office/drawing/2014/main" id="{570FAD31-F089-4B79-A82B-59F882C21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0038" y="677863"/>
            <a:ext cx="249238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Freeform 26">
            <a:extLst>
              <a:ext uri="{FF2B5EF4-FFF2-40B4-BE49-F238E27FC236}">
                <a16:creationId xmlns:a16="http://schemas.microsoft.com/office/drawing/2014/main" id="{99DFB70C-550E-4414-A01B-E4125A67C6F5}"/>
              </a:ext>
            </a:extLst>
          </p:cNvPr>
          <p:cNvSpPr>
            <a:spLocks noEditPoints="1"/>
          </p:cNvSpPr>
          <p:nvPr/>
        </p:nvSpPr>
        <p:spPr bwMode="auto">
          <a:xfrm>
            <a:off x="3167063" y="809626"/>
            <a:ext cx="184150" cy="149225"/>
          </a:xfrm>
          <a:custGeom>
            <a:avLst/>
            <a:gdLst>
              <a:gd name="T0" fmla="*/ 517 w 1936"/>
              <a:gd name="T1" fmla="*/ 339 h 1559"/>
              <a:gd name="T2" fmla="*/ 351 w 1936"/>
              <a:gd name="T3" fmla="*/ 386 h 1559"/>
              <a:gd name="T4" fmla="*/ 233 w 1936"/>
              <a:gd name="T5" fmla="*/ 531 h 1559"/>
              <a:gd name="T6" fmla="*/ 189 w 1936"/>
              <a:gd name="T7" fmla="*/ 772 h 1559"/>
              <a:gd name="T8" fmla="*/ 235 w 1936"/>
              <a:gd name="T9" fmla="*/ 1031 h 1559"/>
              <a:gd name="T10" fmla="*/ 355 w 1936"/>
              <a:gd name="T11" fmla="*/ 1176 h 1559"/>
              <a:gd name="T12" fmla="*/ 517 w 1936"/>
              <a:gd name="T13" fmla="*/ 1219 h 1559"/>
              <a:gd name="T14" fmla="*/ 773 w 1936"/>
              <a:gd name="T15" fmla="*/ 1112 h 1559"/>
              <a:gd name="T16" fmla="*/ 1012 w 1936"/>
              <a:gd name="T17" fmla="*/ 781 h 1559"/>
              <a:gd name="T18" fmla="*/ 759 w 1936"/>
              <a:gd name="T19" fmla="*/ 441 h 1559"/>
              <a:gd name="T20" fmla="*/ 517 w 1936"/>
              <a:gd name="T21" fmla="*/ 339 h 1559"/>
              <a:gd name="T22" fmla="*/ 1800 w 1936"/>
              <a:gd name="T23" fmla="*/ 0 h 1559"/>
              <a:gd name="T24" fmla="*/ 1934 w 1936"/>
              <a:gd name="T25" fmla="*/ 14 h 1559"/>
              <a:gd name="T26" fmla="*/ 1884 w 1936"/>
              <a:gd name="T27" fmla="*/ 256 h 1559"/>
              <a:gd name="T28" fmla="*/ 1797 w 1936"/>
              <a:gd name="T29" fmla="*/ 248 h 1559"/>
              <a:gd name="T30" fmla="*/ 1607 w 1936"/>
              <a:gd name="T31" fmla="*/ 297 h 1559"/>
              <a:gd name="T32" fmla="*/ 1437 w 1936"/>
              <a:gd name="T33" fmla="*/ 456 h 1559"/>
              <a:gd name="T34" fmla="*/ 1228 w 1936"/>
              <a:gd name="T35" fmla="*/ 781 h 1559"/>
              <a:gd name="T36" fmla="*/ 1377 w 1936"/>
              <a:gd name="T37" fmla="*/ 1035 h 1559"/>
              <a:gd name="T38" fmla="*/ 1516 w 1936"/>
              <a:gd name="T39" fmla="*/ 1199 h 1559"/>
              <a:gd name="T40" fmla="*/ 1650 w 1936"/>
              <a:gd name="T41" fmla="*/ 1285 h 1559"/>
              <a:gd name="T42" fmla="*/ 1798 w 1936"/>
              <a:gd name="T43" fmla="*/ 1313 h 1559"/>
              <a:gd name="T44" fmla="*/ 1883 w 1936"/>
              <a:gd name="T45" fmla="*/ 1306 h 1559"/>
              <a:gd name="T46" fmla="*/ 1936 w 1936"/>
              <a:gd name="T47" fmla="*/ 1534 h 1559"/>
              <a:gd name="T48" fmla="*/ 1755 w 1936"/>
              <a:gd name="T49" fmla="*/ 1559 h 1559"/>
              <a:gd name="T50" fmla="*/ 1406 w 1936"/>
              <a:gd name="T51" fmla="*/ 1420 h 1559"/>
              <a:gd name="T52" fmla="*/ 1120 w 1936"/>
              <a:gd name="T53" fmla="*/ 978 h 1559"/>
              <a:gd name="T54" fmla="*/ 821 w 1936"/>
              <a:gd name="T55" fmla="*/ 1352 h 1559"/>
              <a:gd name="T56" fmla="*/ 501 w 1936"/>
              <a:gd name="T57" fmla="*/ 1466 h 1559"/>
              <a:gd name="T58" fmla="*/ 238 w 1936"/>
              <a:gd name="T59" fmla="*/ 1375 h 1559"/>
              <a:gd name="T60" fmla="*/ 62 w 1936"/>
              <a:gd name="T61" fmla="*/ 1129 h 1559"/>
              <a:gd name="T62" fmla="*/ 0 w 1936"/>
              <a:gd name="T63" fmla="*/ 784 h 1559"/>
              <a:gd name="T64" fmla="*/ 69 w 1936"/>
              <a:gd name="T65" fmla="*/ 431 h 1559"/>
              <a:gd name="T66" fmla="*/ 255 w 1936"/>
              <a:gd name="T67" fmla="*/ 181 h 1559"/>
              <a:gd name="T68" fmla="*/ 517 w 1936"/>
              <a:gd name="T69" fmla="*/ 92 h 1559"/>
              <a:gd name="T70" fmla="*/ 735 w 1936"/>
              <a:gd name="T71" fmla="*/ 140 h 1559"/>
              <a:gd name="T72" fmla="*/ 918 w 1936"/>
              <a:gd name="T73" fmla="*/ 289 h 1559"/>
              <a:gd name="T74" fmla="*/ 1120 w 1936"/>
              <a:gd name="T75" fmla="*/ 584 h 1559"/>
              <a:gd name="T76" fmla="*/ 1324 w 1936"/>
              <a:gd name="T77" fmla="*/ 254 h 1559"/>
              <a:gd name="T78" fmla="*/ 1534 w 1936"/>
              <a:gd name="T79" fmla="*/ 62 h 1559"/>
              <a:gd name="T80" fmla="*/ 1800 w 1936"/>
              <a:gd name="T81" fmla="*/ 0 h 15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936" h="1559">
                <a:moveTo>
                  <a:pt x="517" y="339"/>
                </a:moveTo>
                <a:cubicBezTo>
                  <a:pt x="456" y="339"/>
                  <a:pt x="400" y="355"/>
                  <a:pt x="351" y="386"/>
                </a:cubicBezTo>
                <a:cubicBezTo>
                  <a:pt x="301" y="417"/>
                  <a:pt x="262" y="465"/>
                  <a:pt x="233" y="531"/>
                </a:cubicBezTo>
                <a:cubicBezTo>
                  <a:pt x="204" y="596"/>
                  <a:pt x="189" y="676"/>
                  <a:pt x="189" y="772"/>
                </a:cubicBezTo>
                <a:cubicBezTo>
                  <a:pt x="189" y="877"/>
                  <a:pt x="204" y="964"/>
                  <a:pt x="235" y="1031"/>
                </a:cubicBezTo>
                <a:cubicBezTo>
                  <a:pt x="266" y="1099"/>
                  <a:pt x="306" y="1147"/>
                  <a:pt x="355" y="1176"/>
                </a:cubicBezTo>
                <a:cubicBezTo>
                  <a:pt x="404" y="1204"/>
                  <a:pt x="458" y="1219"/>
                  <a:pt x="517" y="1219"/>
                </a:cubicBezTo>
                <a:cubicBezTo>
                  <a:pt x="607" y="1219"/>
                  <a:pt x="692" y="1183"/>
                  <a:pt x="773" y="1112"/>
                </a:cubicBezTo>
                <a:cubicBezTo>
                  <a:pt x="853" y="1040"/>
                  <a:pt x="933" y="930"/>
                  <a:pt x="1012" y="781"/>
                </a:cubicBezTo>
                <a:cubicBezTo>
                  <a:pt x="921" y="622"/>
                  <a:pt x="836" y="508"/>
                  <a:pt x="759" y="441"/>
                </a:cubicBezTo>
                <a:cubicBezTo>
                  <a:pt x="682" y="373"/>
                  <a:pt x="601" y="339"/>
                  <a:pt x="517" y="339"/>
                </a:cubicBezTo>
                <a:close/>
                <a:moveTo>
                  <a:pt x="1800" y="0"/>
                </a:moveTo>
                <a:cubicBezTo>
                  <a:pt x="1852" y="0"/>
                  <a:pt x="1897" y="5"/>
                  <a:pt x="1934" y="14"/>
                </a:cubicBezTo>
                <a:lnTo>
                  <a:pt x="1884" y="256"/>
                </a:lnTo>
                <a:cubicBezTo>
                  <a:pt x="1853" y="251"/>
                  <a:pt x="1824" y="248"/>
                  <a:pt x="1797" y="248"/>
                </a:cubicBezTo>
                <a:cubicBezTo>
                  <a:pt x="1726" y="248"/>
                  <a:pt x="1663" y="265"/>
                  <a:pt x="1607" y="297"/>
                </a:cubicBezTo>
                <a:cubicBezTo>
                  <a:pt x="1551" y="329"/>
                  <a:pt x="1494" y="382"/>
                  <a:pt x="1437" y="456"/>
                </a:cubicBezTo>
                <a:cubicBezTo>
                  <a:pt x="1379" y="530"/>
                  <a:pt x="1309" y="639"/>
                  <a:pt x="1228" y="781"/>
                </a:cubicBezTo>
                <a:cubicBezTo>
                  <a:pt x="1279" y="880"/>
                  <a:pt x="1329" y="965"/>
                  <a:pt x="1377" y="1035"/>
                </a:cubicBezTo>
                <a:cubicBezTo>
                  <a:pt x="1426" y="1106"/>
                  <a:pt x="1472" y="1160"/>
                  <a:pt x="1516" y="1199"/>
                </a:cubicBezTo>
                <a:cubicBezTo>
                  <a:pt x="1561" y="1238"/>
                  <a:pt x="1605" y="1267"/>
                  <a:pt x="1650" y="1285"/>
                </a:cubicBezTo>
                <a:cubicBezTo>
                  <a:pt x="1695" y="1303"/>
                  <a:pt x="1744" y="1313"/>
                  <a:pt x="1798" y="1313"/>
                </a:cubicBezTo>
                <a:cubicBezTo>
                  <a:pt x="1831" y="1313"/>
                  <a:pt x="1859" y="1310"/>
                  <a:pt x="1883" y="1306"/>
                </a:cubicBezTo>
                <a:lnTo>
                  <a:pt x="1936" y="1534"/>
                </a:lnTo>
                <a:cubicBezTo>
                  <a:pt x="1869" y="1551"/>
                  <a:pt x="1809" y="1559"/>
                  <a:pt x="1755" y="1559"/>
                </a:cubicBezTo>
                <a:cubicBezTo>
                  <a:pt x="1621" y="1559"/>
                  <a:pt x="1505" y="1513"/>
                  <a:pt x="1406" y="1420"/>
                </a:cubicBezTo>
                <a:cubicBezTo>
                  <a:pt x="1307" y="1328"/>
                  <a:pt x="1212" y="1180"/>
                  <a:pt x="1120" y="978"/>
                </a:cubicBezTo>
                <a:cubicBezTo>
                  <a:pt x="1018" y="1151"/>
                  <a:pt x="918" y="1276"/>
                  <a:pt x="821" y="1352"/>
                </a:cubicBezTo>
                <a:cubicBezTo>
                  <a:pt x="724" y="1428"/>
                  <a:pt x="617" y="1466"/>
                  <a:pt x="501" y="1466"/>
                </a:cubicBezTo>
                <a:cubicBezTo>
                  <a:pt x="403" y="1466"/>
                  <a:pt x="315" y="1435"/>
                  <a:pt x="238" y="1375"/>
                </a:cubicBezTo>
                <a:cubicBezTo>
                  <a:pt x="162" y="1315"/>
                  <a:pt x="103" y="1233"/>
                  <a:pt x="62" y="1129"/>
                </a:cubicBezTo>
                <a:cubicBezTo>
                  <a:pt x="21" y="1025"/>
                  <a:pt x="0" y="910"/>
                  <a:pt x="0" y="784"/>
                </a:cubicBezTo>
                <a:cubicBezTo>
                  <a:pt x="0" y="656"/>
                  <a:pt x="23" y="538"/>
                  <a:pt x="69" y="431"/>
                </a:cubicBezTo>
                <a:cubicBezTo>
                  <a:pt x="115" y="323"/>
                  <a:pt x="176" y="239"/>
                  <a:pt x="255" y="181"/>
                </a:cubicBezTo>
                <a:cubicBezTo>
                  <a:pt x="333" y="122"/>
                  <a:pt x="420" y="92"/>
                  <a:pt x="517" y="92"/>
                </a:cubicBezTo>
                <a:cubicBezTo>
                  <a:pt x="599" y="92"/>
                  <a:pt x="672" y="108"/>
                  <a:pt x="735" y="140"/>
                </a:cubicBezTo>
                <a:cubicBezTo>
                  <a:pt x="798" y="172"/>
                  <a:pt x="859" y="221"/>
                  <a:pt x="918" y="289"/>
                </a:cubicBezTo>
                <a:cubicBezTo>
                  <a:pt x="977" y="357"/>
                  <a:pt x="1044" y="455"/>
                  <a:pt x="1120" y="584"/>
                </a:cubicBezTo>
                <a:cubicBezTo>
                  <a:pt x="1190" y="451"/>
                  <a:pt x="1258" y="341"/>
                  <a:pt x="1324" y="254"/>
                </a:cubicBezTo>
                <a:cubicBezTo>
                  <a:pt x="1390" y="167"/>
                  <a:pt x="1460" y="103"/>
                  <a:pt x="1534" y="62"/>
                </a:cubicBezTo>
                <a:cubicBezTo>
                  <a:pt x="1607" y="21"/>
                  <a:pt x="1696" y="0"/>
                  <a:pt x="1800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Rectangle 27">
            <a:extLst>
              <a:ext uri="{FF2B5EF4-FFF2-40B4-BE49-F238E27FC236}">
                <a16:creationId xmlns:a16="http://schemas.microsoft.com/office/drawing/2014/main" id="{7419BBF4-669C-4180-A1B6-DB7399F95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2176" y="679451"/>
            <a:ext cx="3794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L(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Rectangle 28">
            <a:extLst>
              <a:ext uri="{FF2B5EF4-FFF2-40B4-BE49-F238E27FC236}">
                <a16:creationId xmlns:a16="http://schemas.microsoft.com/office/drawing/2014/main" id="{D6952159-F4ED-41B3-8547-AB6665A51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2838" y="679451"/>
            <a:ext cx="1042988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H|data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Rectangle 29">
            <a:extLst>
              <a:ext uri="{FF2B5EF4-FFF2-40B4-BE49-F238E27FC236}">
                <a16:creationId xmlns:a16="http://schemas.microsoft.com/office/drawing/2014/main" id="{C5145F4B-DCAD-4CB3-ACEA-D7D1B30B0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2313" y="679451"/>
            <a:ext cx="25082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Rectangle 30">
            <a:extLst>
              <a:ext uri="{FF2B5EF4-FFF2-40B4-BE49-F238E27FC236}">
                <a16:creationId xmlns:a16="http://schemas.microsoft.com/office/drawing/2014/main" id="{CF43C32C-4374-4CCF-8028-C82B3AD20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1135063"/>
            <a:ext cx="563563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0.0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Rectangle 33">
            <a:extLst>
              <a:ext uri="{FF2B5EF4-FFF2-40B4-BE49-F238E27FC236}">
                <a16:creationId xmlns:a16="http://schemas.microsoft.com/office/drawing/2014/main" id="{F3E7F862-D7CB-4854-A63C-2BB4E3665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1595438"/>
            <a:ext cx="5445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0.1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Rectangle 36">
            <a:extLst>
              <a:ext uri="{FF2B5EF4-FFF2-40B4-BE49-F238E27FC236}">
                <a16:creationId xmlns:a16="http://schemas.microsoft.com/office/drawing/2014/main" id="{94F02EF2-03B4-4ECA-9B17-A1D18B7EE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2052638"/>
            <a:ext cx="5445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0.2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Rectangle 39">
            <a:extLst>
              <a:ext uri="{FF2B5EF4-FFF2-40B4-BE49-F238E27FC236}">
                <a16:creationId xmlns:a16="http://schemas.microsoft.com/office/drawing/2014/main" id="{46733508-7F5C-41E4-A9B4-E069F85D3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2509838"/>
            <a:ext cx="5445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0.3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" name="Rectangle 42">
            <a:extLst>
              <a:ext uri="{FF2B5EF4-FFF2-40B4-BE49-F238E27FC236}">
                <a16:creationId xmlns:a16="http://schemas.microsoft.com/office/drawing/2014/main" id="{E71F4B7A-34C6-42DE-B9E6-57E4DB958B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2967038"/>
            <a:ext cx="5445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0.4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7" name="Rectangle 45">
            <a:extLst>
              <a:ext uri="{FF2B5EF4-FFF2-40B4-BE49-F238E27FC236}">
                <a16:creationId xmlns:a16="http://schemas.microsoft.com/office/drawing/2014/main" id="{9D6640DD-4FFE-43C5-A847-EE2A2ABE1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3422651"/>
            <a:ext cx="5445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0.5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0" name="Rectangle 48">
            <a:extLst>
              <a:ext uri="{FF2B5EF4-FFF2-40B4-BE49-F238E27FC236}">
                <a16:creationId xmlns:a16="http://schemas.microsoft.com/office/drawing/2014/main" id="{3C6DF581-FA95-4C86-A109-C47F972E2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3879851"/>
            <a:ext cx="5445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0.6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3" name="Rectangle 51">
            <a:extLst>
              <a:ext uri="{FF2B5EF4-FFF2-40B4-BE49-F238E27FC236}">
                <a16:creationId xmlns:a16="http://schemas.microsoft.com/office/drawing/2014/main" id="{4C0C2696-D6BA-4217-B634-25C74560C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4337051"/>
            <a:ext cx="563563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0.7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6" name="Rectangle 54">
            <a:extLst>
              <a:ext uri="{FF2B5EF4-FFF2-40B4-BE49-F238E27FC236}">
                <a16:creationId xmlns:a16="http://schemas.microsoft.com/office/drawing/2014/main" id="{6604A715-FB31-44CF-85AE-49FD99C58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4797426"/>
            <a:ext cx="5445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0.8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9" name="Rectangle 57">
            <a:extLst>
              <a:ext uri="{FF2B5EF4-FFF2-40B4-BE49-F238E27FC236}">
                <a16:creationId xmlns:a16="http://schemas.microsoft.com/office/drawing/2014/main" id="{73A25687-A59B-486E-A836-DC935274F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5254626"/>
            <a:ext cx="5445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0.9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2" name="Rectangle 60">
            <a:extLst>
              <a:ext uri="{FF2B5EF4-FFF2-40B4-BE49-F238E27FC236}">
                <a16:creationId xmlns:a16="http://schemas.microsoft.com/office/drawing/2014/main" id="{420BF737-5AAA-4175-896C-A7B61A1F3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5711826"/>
            <a:ext cx="5445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1.0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60F363E-29D8-922C-B28C-5A5E07EB0143}"/>
              </a:ext>
            </a:extLst>
          </p:cNvPr>
          <p:cNvSpPr txBox="1"/>
          <p:nvPr/>
        </p:nvSpPr>
        <p:spPr>
          <a:xfrm>
            <a:off x="1940528" y="115915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1.000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6A7D263-7A4E-ED32-05E2-9DDAF3A45D5D}"/>
              </a:ext>
            </a:extLst>
          </p:cNvPr>
          <p:cNvSpPr txBox="1"/>
          <p:nvPr/>
        </p:nvSpPr>
        <p:spPr>
          <a:xfrm>
            <a:off x="1924653" y="1598877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0.6561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DF9C5E0-5F73-2556-4AF2-A8C099A680EF}"/>
              </a:ext>
            </a:extLst>
          </p:cNvPr>
          <p:cNvSpPr txBox="1"/>
          <p:nvPr/>
        </p:nvSpPr>
        <p:spPr>
          <a:xfrm>
            <a:off x="1908778" y="2051051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0.4096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A3E697-B76E-B5D6-2C14-6AF2271D37C1}"/>
              </a:ext>
            </a:extLst>
          </p:cNvPr>
          <p:cNvSpPr txBox="1"/>
          <p:nvPr/>
        </p:nvSpPr>
        <p:spPr>
          <a:xfrm>
            <a:off x="1908778" y="2502457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0.2401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62D229F-3E11-7C24-E10F-2F500D816EE6}"/>
              </a:ext>
            </a:extLst>
          </p:cNvPr>
          <p:cNvSpPr txBox="1"/>
          <p:nvPr/>
        </p:nvSpPr>
        <p:spPr>
          <a:xfrm>
            <a:off x="1906220" y="2966227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0.1296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1350133-5FEE-7CE7-7F2E-A85BF4C69448}"/>
              </a:ext>
            </a:extLst>
          </p:cNvPr>
          <p:cNvSpPr txBox="1"/>
          <p:nvPr/>
        </p:nvSpPr>
        <p:spPr>
          <a:xfrm>
            <a:off x="1906219" y="3429001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0.0625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017A78F-4E48-D248-E37D-C88B52CB9D15}"/>
              </a:ext>
            </a:extLst>
          </p:cNvPr>
          <p:cNvSpPr txBox="1"/>
          <p:nvPr/>
        </p:nvSpPr>
        <p:spPr>
          <a:xfrm>
            <a:off x="1878059" y="3893107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0.0256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E70D961-2BCE-3E13-AAD8-D91D8B4CA476}"/>
              </a:ext>
            </a:extLst>
          </p:cNvPr>
          <p:cNvSpPr txBox="1"/>
          <p:nvPr/>
        </p:nvSpPr>
        <p:spPr>
          <a:xfrm>
            <a:off x="1906218" y="4369873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0.0081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2F7FC93-D8D6-60FD-54FC-7D074F4E0383}"/>
              </a:ext>
            </a:extLst>
          </p:cNvPr>
          <p:cNvSpPr txBox="1"/>
          <p:nvPr/>
        </p:nvSpPr>
        <p:spPr>
          <a:xfrm>
            <a:off x="1903660" y="4810126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0.0016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7A24561-0A12-B504-1347-31D2A362B064}"/>
              </a:ext>
            </a:extLst>
          </p:cNvPr>
          <p:cNvSpPr txBox="1"/>
          <p:nvPr/>
        </p:nvSpPr>
        <p:spPr>
          <a:xfrm>
            <a:off x="1875501" y="5233432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0.0001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DE4C891-5F25-F398-DF6A-0CC793FD7716}"/>
              </a:ext>
            </a:extLst>
          </p:cNvPr>
          <p:cNvSpPr txBox="1"/>
          <p:nvPr/>
        </p:nvSpPr>
        <p:spPr>
          <a:xfrm>
            <a:off x="1874648" y="5722695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0.0000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735B9A-9F2A-9476-0C05-3C6C3DD50181}"/>
              </a:ext>
            </a:extLst>
          </p:cNvPr>
          <p:cNvSpPr txBox="1"/>
          <p:nvPr/>
        </p:nvSpPr>
        <p:spPr>
          <a:xfrm>
            <a:off x="3445478" y="117820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1.000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CCCEF3-63C8-AE98-8981-381AF3C208AF}"/>
              </a:ext>
            </a:extLst>
          </p:cNvPr>
          <p:cNvSpPr txBox="1"/>
          <p:nvPr/>
        </p:nvSpPr>
        <p:spPr>
          <a:xfrm>
            <a:off x="3429603" y="1617927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0.6561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203B27-542E-6A75-F43A-692BD5A85658}"/>
              </a:ext>
            </a:extLst>
          </p:cNvPr>
          <p:cNvSpPr txBox="1"/>
          <p:nvPr/>
        </p:nvSpPr>
        <p:spPr>
          <a:xfrm>
            <a:off x="3413728" y="2070101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0.4096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BA816B-FCB0-16C1-D1E9-2D6E961175FD}"/>
              </a:ext>
            </a:extLst>
          </p:cNvPr>
          <p:cNvSpPr txBox="1"/>
          <p:nvPr/>
        </p:nvSpPr>
        <p:spPr>
          <a:xfrm>
            <a:off x="3413728" y="2521507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0.2401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5537C7D-23A1-8BCE-C2DB-F9BE78106503}"/>
              </a:ext>
            </a:extLst>
          </p:cNvPr>
          <p:cNvSpPr txBox="1"/>
          <p:nvPr/>
        </p:nvSpPr>
        <p:spPr>
          <a:xfrm>
            <a:off x="3411170" y="2985277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0.1296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FD99AC1-B1CB-25F5-05F1-15BB06EC7607}"/>
              </a:ext>
            </a:extLst>
          </p:cNvPr>
          <p:cNvSpPr txBox="1"/>
          <p:nvPr/>
        </p:nvSpPr>
        <p:spPr>
          <a:xfrm>
            <a:off x="3411169" y="3448051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0.0625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CF8178E-77F6-D9E8-1875-6362F78E7B96}"/>
              </a:ext>
            </a:extLst>
          </p:cNvPr>
          <p:cNvSpPr txBox="1"/>
          <p:nvPr/>
        </p:nvSpPr>
        <p:spPr>
          <a:xfrm>
            <a:off x="3383009" y="3912157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0.0256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5D1FC17-3EC3-37E9-617F-A0AD4AB6671A}"/>
              </a:ext>
            </a:extLst>
          </p:cNvPr>
          <p:cNvSpPr txBox="1"/>
          <p:nvPr/>
        </p:nvSpPr>
        <p:spPr>
          <a:xfrm>
            <a:off x="3411168" y="4388923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0.0081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0F80BE0-AFF2-8D7A-76F3-6AD2D478811D}"/>
              </a:ext>
            </a:extLst>
          </p:cNvPr>
          <p:cNvSpPr txBox="1"/>
          <p:nvPr/>
        </p:nvSpPr>
        <p:spPr>
          <a:xfrm>
            <a:off x="3408610" y="4829176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0.0016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07BDC39-8CDB-EA1E-926E-975FA09B6467}"/>
              </a:ext>
            </a:extLst>
          </p:cNvPr>
          <p:cNvSpPr txBox="1"/>
          <p:nvPr/>
        </p:nvSpPr>
        <p:spPr>
          <a:xfrm>
            <a:off x="3380451" y="5252482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0.0001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26101FF-551F-0CAE-4D0A-D2607357CC0C}"/>
              </a:ext>
            </a:extLst>
          </p:cNvPr>
          <p:cNvSpPr txBox="1"/>
          <p:nvPr/>
        </p:nvSpPr>
        <p:spPr>
          <a:xfrm>
            <a:off x="3379598" y="5741745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0.0000</a:t>
            </a:r>
          </a:p>
        </p:txBody>
      </p:sp>
      <p:pic>
        <p:nvPicPr>
          <p:cNvPr id="45" name="Picture 44" descr="A graph with red dots&#10;&#10;Description automatically generated">
            <a:extLst>
              <a:ext uri="{FF2B5EF4-FFF2-40B4-BE49-F238E27FC236}">
                <a16:creationId xmlns:a16="http://schemas.microsoft.com/office/drawing/2014/main" id="{88C783F9-CFD4-295E-3BA5-1F8A9BC004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7118" y="2222170"/>
            <a:ext cx="5562599" cy="44928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230C972-39BD-1F9B-F57B-AA0CE819F3F5}"/>
                  </a:ext>
                </a:extLst>
              </p:cNvPr>
              <p:cNvSpPr txBox="1"/>
              <p:nvPr/>
            </p:nvSpPr>
            <p:spPr>
              <a:xfrm>
                <a:off x="9084175" y="2522487"/>
                <a:ext cx="9957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230C972-39BD-1F9B-F57B-AA0CE819F3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4175" y="2522487"/>
                <a:ext cx="995785" cy="461665"/>
              </a:xfrm>
              <a:prstGeom prst="rect">
                <a:avLst/>
              </a:prstGeom>
              <a:blipFill>
                <a:blip r:embed="rId4"/>
                <a:stretch>
                  <a:fillRect t="-2632"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8" name="Picture 47" descr="A graph with red and blue lines&#10;&#10;Description automatically generated">
            <a:extLst>
              <a:ext uri="{FF2B5EF4-FFF2-40B4-BE49-F238E27FC236}">
                <a16:creationId xmlns:a16="http://schemas.microsoft.com/office/drawing/2014/main" id="{9C365A82-F637-16AA-5F10-7CEB799392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502"/>
          <a:stretch/>
        </p:blipFill>
        <p:spPr>
          <a:xfrm>
            <a:off x="5753719" y="6222653"/>
            <a:ext cx="5329398" cy="506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802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71690" y="275431"/>
            <a:ext cx="70934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/>
          </a:p>
          <a:p>
            <a:r>
              <a:rPr lang="en-US" sz="2800" dirty="0"/>
              <a:t>Likelihood profile:</a:t>
            </a:r>
          </a:p>
          <a:p>
            <a:pPr lvl="1"/>
            <a:r>
              <a:rPr lang="en-US" sz="2800" dirty="0"/>
              <a:t>DATA: 4 people, 3 death metal fans</a:t>
            </a:r>
          </a:p>
          <a:p>
            <a:pPr lvl="1"/>
            <a:r>
              <a:rPr lang="en-US" sz="2800" dirty="0"/>
              <a:t>MODELS: values of the proportion who prefer death metal</a:t>
            </a:r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5936795D-C3F5-4BDA-8EA9-FCA698E6DB68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31813" y="592138"/>
            <a:ext cx="4219575" cy="567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D8EE1CF1-B9A3-424B-874A-ACF9EBEB1E23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7663" y="631826"/>
            <a:ext cx="0" cy="5502275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FF363E7C-E0D2-4615-8828-451B115417A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9113" y="631826"/>
            <a:ext cx="0" cy="5502275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Line 7">
            <a:extLst>
              <a:ext uri="{FF2B5EF4-FFF2-40B4-BE49-F238E27FC236}">
                <a16:creationId xmlns:a16="http://schemas.microsoft.com/office/drawing/2014/main" id="{B79F8BB3-EF18-4D7D-B4FF-0DF2A6580F4C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1" y="1096963"/>
            <a:ext cx="42116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07F40188-E95E-44AB-B62A-DBCF535B2A9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1" y="1554163"/>
            <a:ext cx="42116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AD82617A-C992-4394-83C1-C8B2B63F84E5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1" y="2011363"/>
            <a:ext cx="42116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C2E9E153-CE0E-4509-B710-61CB3C8E0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1" y="2468563"/>
            <a:ext cx="42116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Line 11">
            <a:extLst>
              <a:ext uri="{FF2B5EF4-FFF2-40B4-BE49-F238E27FC236}">
                <a16:creationId xmlns:a16="http://schemas.microsoft.com/office/drawing/2014/main" id="{D3AF7482-1A5E-4A6C-8AAC-12FE238E6E04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1" y="2925763"/>
            <a:ext cx="42116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Line 12">
            <a:extLst>
              <a:ext uri="{FF2B5EF4-FFF2-40B4-BE49-F238E27FC236}">
                <a16:creationId xmlns:a16="http://schemas.microsoft.com/office/drawing/2014/main" id="{B23176CF-15B8-4DD0-A39E-F54AB6CCB19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1" y="3382963"/>
            <a:ext cx="42116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Line 13">
            <a:extLst>
              <a:ext uri="{FF2B5EF4-FFF2-40B4-BE49-F238E27FC236}">
                <a16:creationId xmlns:a16="http://schemas.microsoft.com/office/drawing/2014/main" id="{D2D8CF61-7926-4FCA-8AC8-548AC7DD61A5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1" y="3840163"/>
            <a:ext cx="42116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Line 14">
            <a:extLst>
              <a:ext uri="{FF2B5EF4-FFF2-40B4-BE49-F238E27FC236}">
                <a16:creationId xmlns:a16="http://schemas.microsoft.com/office/drawing/2014/main" id="{2075AC84-5B17-4712-A9FB-7106AEF38ED8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1" y="4298951"/>
            <a:ext cx="42116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7401F02E-23D3-4DF1-A195-8E15784625EB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1" y="4756151"/>
            <a:ext cx="42116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Line 16">
            <a:extLst>
              <a:ext uri="{FF2B5EF4-FFF2-40B4-BE49-F238E27FC236}">
                <a16:creationId xmlns:a16="http://schemas.microsoft.com/office/drawing/2014/main" id="{CC17ED35-7CFE-474A-A928-2FE5740BF1FD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1" y="5213351"/>
            <a:ext cx="42116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4E14A33B-D7B7-4CBB-9895-5146EEE5A7B5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1" y="5670551"/>
            <a:ext cx="42116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Line 18">
            <a:extLst>
              <a:ext uri="{FF2B5EF4-FFF2-40B4-BE49-F238E27FC236}">
                <a16:creationId xmlns:a16="http://schemas.microsoft.com/office/drawing/2014/main" id="{EDF344BE-C7DD-4BAF-8EB9-FE90A6B3E978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751" y="631826"/>
            <a:ext cx="0" cy="5502275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Line 19">
            <a:extLst>
              <a:ext uri="{FF2B5EF4-FFF2-40B4-BE49-F238E27FC236}">
                <a16:creationId xmlns:a16="http://schemas.microsoft.com/office/drawing/2014/main" id="{42901FDA-CCD7-4A2F-9A5E-924D17CB84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8688" y="631826"/>
            <a:ext cx="0" cy="5502275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Line 20">
            <a:extLst>
              <a:ext uri="{FF2B5EF4-FFF2-40B4-BE49-F238E27FC236}">
                <a16:creationId xmlns:a16="http://schemas.microsoft.com/office/drawing/2014/main" id="{4ACE21D2-13DE-4DC0-AEDE-712DD0BFD14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1" y="638176"/>
            <a:ext cx="42116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Line 21">
            <a:extLst>
              <a:ext uri="{FF2B5EF4-FFF2-40B4-BE49-F238E27FC236}">
                <a16:creationId xmlns:a16="http://schemas.microsoft.com/office/drawing/2014/main" id="{A10E14DC-F8C9-4D23-906C-DD76F32C7F1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1" y="6127751"/>
            <a:ext cx="42116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Rectangle 22">
            <a:extLst>
              <a:ext uri="{FF2B5EF4-FFF2-40B4-BE49-F238E27FC236}">
                <a16:creationId xmlns:a16="http://schemas.microsoft.com/office/drawing/2014/main" id="{DB39959E-67F1-40B7-B2A9-47DBC9F819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26" y="677863"/>
            <a:ext cx="96202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Model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46668CFB-E12B-4AD7-AAED-24930157F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9738" y="677863"/>
            <a:ext cx="40640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P(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24">
            <a:extLst>
              <a:ext uri="{FF2B5EF4-FFF2-40B4-BE49-F238E27FC236}">
                <a16:creationId xmlns:a16="http://schemas.microsoft.com/office/drawing/2014/main" id="{D3AC289A-A72B-4662-A030-7CFE2250F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0563" y="677863"/>
            <a:ext cx="88620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 err="1">
                <a:solidFill>
                  <a:srgbClr val="000000"/>
                </a:solidFill>
                <a:latin typeface="Calibri" panose="020F0502020204030204" pitchFamily="34" charset="0"/>
              </a:rPr>
              <a:t>d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ata|H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Rectangle 25">
            <a:extLst>
              <a:ext uri="{FF2B5EF4-FFF2-40B4-BE49-F238E27FC236}">
                <a16:creationId xmlns:a16="http://schemas.microsoft.com/office/drawing/2014/main" id="{570FAD31-F089-4B79-A82B-59F882C21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0038" y="677863"/>
            <a:ext cx="249238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Freeform 26">
            <a:extLst>
              <a:ext uri="{FF2B5EF4-FFF2-40B4-BE49-F238E27FC236}">
                <a16:creationId xmlns:a16="http://schemas.microsoft.com/office/drawing/2014/main" id="{99DFB70C-550E-4414-A01B-E4125A67C6F5}"/>
              </a:ext>
            </a:extLst>
          </p:cNvPr>
          <p:cNvSpPr>
            <a:spLocks noEditPoints="1"/>
          </p:cNvSpPr>
          <p:nvPr/>
        </p:nvSpPr>
        <p:spPr bwMode="auto">
          <a:xfrm>
            <a:off x="3167063" y="809626"/>
            <a:ext cx="184150" cy="149225"/>
          </a:xfrm>
          <a:custGeom>
            <a:avLst/>
            <a:gdLst>
              <a:gd name="T0" fmla="*/ 517 w 1936"/>
              <a:gd name="T1" fmla="*/ 339 h 1559"/>
              <a:gd name="T2" fmla="*/ 351 w 1936"/>
              <a:gd name="T3" fmla="*/ 386 h 1559"/>
              <a:gd name="T4" fmla="*/ 233 w 1936"/>
              <a:gd name="T5" fmla="*/ 531 h 1559"/>
              <a:gd name="T6" fmla="*/ 189 w 1936"/>
              <a:gd name="T7" fmla="*/ 772 h 1559"/>
              <a:gd name="T8" fmla="*/ 235 w 1936"/>
              <a:gd name="T9" fmla="*/ 1031 h 1559"/>
              <a:gd name="T10" fmla="*/ 355 w 1936"/>
              <a:gd name="T11" fmla="*/ 1176 h 1559"/>
              <a:gd name="T12" fmla="*/ 517 w 1936"/>
              <a:gd name="T13" fmla="*/ 1219 h 1559"/>
              <a:gd name="T14" fmla="*/ 773 w 1936"/>
              <a:gd name="T15" fmla="*/ 1112 h 1559"/>
              <a:gd name="T16" fmla="*/ 1012 w 1936"/>
              <a:gd name="T17" fmla="*/ 781 h 1559"/>
              <a:gd name="T18" fmla="*/ 759 w 1936"/>
              <a:gd name="T19" fmla="*/ 441 h 1559"/>
              <a:gd name="T20" fmla="*/ 517 w 1936"/>
              <a:gd name="T21" fmla="*/ 339 h 1559"/>
              <a:gd name="T22" fmla="*/ 1800 w 1936"/>
              <a:gd name="T23" fmla="*/ 0 h 1559"/>
              <a:gd name="T24" fmla="*/ 1934 w 1936"/>
              <a:gd name="T25" fmla="*/ 14 h 1559"/>
              <a:gd name="T26" fmla="*/ 1884 w 1936"/>
              <a:gd name="T27" fmla="*/ 256 h 1559"/>
              <a:gd name="T28" fmla="*/ 1797 w 1936"/>
              <a:gd name="T29" fmla="*/ 248 h 1559"/>
              <a:gd name="T30" fmla="*/ 1607 w 1936"/>
              <a:gd name="T31" fmla="*/ 297 h 1559"/>
              <a:gd name="T32" fmla="*/ 1437 w 1936"/>
              <a:gd name="T33" fmla="*/ 456 h 1559"/>
              <a:gd name="T34" fmla="*/ 1228 w 1936"/>
              <a:gd name="T35" fmla="*/ 781 h 1559"/>
              <a:gd name="T36" fmla="*/ 1377 w 1936"/>
              <a:gd name="T37" fmla="*/ 1035 h 1559"/>
              <a:gd name="T38" fmla="*/ 1516 w 1936"/>
              <a:gd name="T39" fmla="*/ 1199 h 1559"/>
              <a:gd name="T40" fmla="*/ 1650 w 1936"/>
              <a:gd name="T41" fmla="*/ 1285 h 1559"/>
              <a:gd name="T42" fmla="*/ 1798 w 1936"/>
              <a:gd name="T43" fmla="*/ 1313 h 1559"/>
              <a:gd name="T44" fmla="*/ 1883 w 1936"/>
              <a:gd name="T45" fmla="*/ 1306 h 1559"/>
              <a:gd name="T46" fmla="*/ 1936 w 1936"/>
              <a:gd name="T47" fmla="*/ 1534 h 1559"/>
              <a:gd name="T48" fmla="*/ 1755 w 1936"/>
              <a:gd name="T49" fmla="*/ 1559 h 1559"/>
              <a:gd name="T50" fmla="*/ 1406 w 1936"/>
              <a:gd name="T51" fmla="*/ 1420 h 1559"/>
              <a:gd name="T52" fmla="*/ 1120 w 1936"/>
              <a:gd name="T53" fmla="*/ 978 h 1559"/>
              <a:gd name="T54" fmla="*/ 821 w 1936"/>
              <a:gd name="T55" fmla="*/ 1352 h 1559"/>
              <a:gd name="T56" fmla="*/ 501 w 1936"/>
              <a:gd name="T57" fmla="*/ 1466 h 1559"/>
              <a:gd name="T58" fmla="*/ 238 w 1936"/>
              <a:gd name="T59" fmla="*/ 1375 h 1559"/>
              <a:gd name="T60" fmla="*/ 62 w 1936"/>
              <a:gd name="T61" fmla="*/ 1129 h 1559"/>
              <a:gd name="T62" fmla="*/ 0 w 1936"/>
              <a:gd name="T63" fmla="*/ 784 h 1559"/>
              <a:gd name="T64" fmla="*/ 69 w 1936"/>
              <a:gd name="T65" fmla="*/ 431 h 1559"/>
              <a:gd name="T66" fmla="*/ 255 w 1936"/>
              <a:gd name="T67" fmla="*/ 181 h 1559"/>
              <a:gd name="T68" fmla="*/ 517 w 1936"/>
              <a:gd name="T69" fmla="*/ 92 h 1559"/>
              <a:gd name="T70" fmla="*/ 735 w 1936"/>
              <a:gd name="T71" fmla="*/ 140 h 1559"/>
              <a:gd name="T72" fmla="*/ 918 w 1936"/>
              <a:gd name="T73" fmla="*/ 289 h 1559"/>
              <a:gd name="T74" fmla="*/ 1120 w 1936"/>
              <a:gd name="T75" fmla="*/ 584 h 1559"/>
              <a:gd name="T76" fmla="*/ 1324 w 1936"/>
              <a:gd name="T77" fmla="*/ 254 h 1559"/>
              <a:gd name="T78" fmla="*/ 1534 w 1936"/>
              <a:gd name="T79" fmla="*/ 62 h 1559"/>
              <a:gd name="T80" fmla="*/ 1800 w 1936"/>
              <a:gd name="T81" fmla="*/ 0 h 15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936" h="1559">
                <a:moveTo>
                  <a:pt x="517" y="339"/>
                </a:moveTo>
                <a:cubicBezTo>
                  <a:pt x="456" y="339"/>
                  <a:pt x="400" y="355"/>
                  <a:pt x="351" y="386"/>
                </a:cubicBezTo>
                <a:cubicBezTo>
                  <a:pt x="301" y="417"/>
                  <a:pt x="262" y="465"/>
                  <a:pt x="233" y="531"/>
                </a:cubicBezTo>
                <a:cubicBezTo>
                  <a:pt x="204" y="596"/>
                  <a:pt x="189" y="676"/>
                  <a:pt x="189" y="772"/>
                </a:cubicBezTo>
                <a:cubicBezTo>
                  <a:pt x="189" y="877"/>
                  <a:pt x="204" y="964"/>
                  <a:pt x="235" y="1031"/>
                </a:cubicBezTo>
                <a:cubicBezTo>
                  <a:pt x="266" y="1099"/>
                  <a:pt x="306" y="1147"/>
                  <a:pt x="355" y="1176"/>
                </a:cubicBezTo>
                <a:cubicBezTo>
                  <a:pt x="404" y="1204"/>
                  <a:pt x="458" y="1219"/>
                  <a:pt x="517" y="1219"/>
                </a:cubicBezTo>
                <a:cubicBezTo>
                  <a:pt x="607" y="1219"/>
                  <a:pt x="692" y="1183"/>
                  <a:pt x="773" y="1112"/>
                </a:cubicBezTo>
                <a:cubicBezTo>
                  <a:pt x="853" y="1040"/>
                  <a:pt x="933" y="930"/>
                  <a:pt x="1012" y="781"/>
                </a:cubicBezTo>
                <a:cubicBezTo>
                  <a:pt x="921" y="622"/>
                  <a:pt x="836" y="508"/>
                  <a:pt x="759" y="441"/>
                </a:cubicBezTo>
                <a:cubicBezTo>
                  <a:pt x="682" y="373"/>
                  <a:pt x="601" y="339"/>
                  <a:pt x="517" y="339"/>
                </a:cubicBezTo>
                <a:close/>
                <a:moveTo>
                  <a:pt x="1800" y="0"/>
                </a:moveTo>
                <a:cubicBezTo>
                  <a:pt x="1852" y="0"/>
                  <a:pt x="1897" y="5"/>
                  <a:pt x="1934" y="14"/>
                </a:cubicBezTo>
                <a:lnTo>
                  <a:pt x="1884" y="256"/>
                </a:lnTo>
                <a:cubicBezTo>
                  <a:pt x="1853" y="251"/>
                  <a:pt x="1824" y="248"/>
                  <a:pt x="1797" y="248"/>
                </a:cubicBezTo>
                <a:cubicBezTo>
                  <a:pt x="1726" y="248"/>
                  <a:pt x="1663" y="265"/>
                  <a:pt x="1607" y="297"/>
                </a:cubicBezTo>
                <a:cubicBezTo>
                  <a:pt x="1551" y="329"/>
                  <a:pt x="1494" y="382"/>
                  <a:pt x="1437" y="456"/>
                </a:cubicBezTo>
                <a:cubicBezTo>
                  <a:pt x="1379" y="530"/>
                  <a:pt x="1309" y="639"/>
                  <a:pt x="1228" y="781"/>
                </a:cubicBezTo>
                <a:cubicBezTo>
                  <a:pt x="1279" y="880"/>
                  <a:pt x="1329" y="965"/>
                  <a:pt x="1377" y="1035"/>
                </a:cubicBezTo>
                <a:cubicBezTo>
                  <a:pt x="1426" y="1106"/>
                  <a:pt x="1472" y="1160"/>
                  <a:pt x="1516" y="1199"/>
                </a:cubicBezTo>
                <a:cubicBezTo>
                  <a:pt x="1561" y="1238"/>
                  <a:pt x="1605" y="1267"/>
                  <a:pt x="1650" y="1285"/>
                </a:cubicBezTo>
                <a:cubicBezTo>
                  <a:pt x="1695" y="1303"/>
                  <a:pt x="1744" y="1313"/>
                  <a:pt x="1798" y="1313"/>
                </a:cubicBezTo>
                <a:cubicBezTo>
                  <a:pt x="1831" y="1313"/>
                  <a:pt x="1859" y="1310"/>
                  <a:pt x="1883" y="1306"/>
                </a:cubicBezTo>
                <a:lnTo>
                  <a:pt x="1936" y="1534"/>
                </a:lnTo>
                <a:cubicBezTo>
                  <a:pt x="1869" y="1551"/>
                  <a:pt x="1809" y="1559"/>
                  <a:pt x="1755" y="1559"/>
                </a:cubicBezTo>
                <a:cubicBezTo>
                  <a:pt x="1621" y="1559"/>
                  <a:pt x="1505" y="1513"/>
                  <a:pt x="1406" y="1420"/>
                </a:cubicBezTo>
                <a:cubicBezTo>
                  <a:pt x="1307" y="1328"/>
                  <a:pt x="1212" y="1180"/>
                  <a:pt x="1120" y="978"/>
                </a:cubicBezTo>
                <a:cubicBezTo>
                  <a:pt x="1018" y="1151"/>
                  <a:pt x="918" y="1276"/>
                  <a:pt x="821" y="1352"/>
                </a:cubicBezTo>
                <a:cubicBezTo>
                  <a:pt x="724" y="1428"/>
                  <a:pt x="617" y="1466"/>
                  <a:pt x="501" y="1466"/>
                </a:cubicBezTo>
                <a:cubicBezTo>
                  <a:pt x="403" y="1466"/>
                  <a:pt x="315" y="1435"/>
                  <a:pt x="238" y="1375"/>
                </a:cubicBezTo>
                <a:cubicBezTo>
                  <a:pt x="162" y="1315"/>
                  <a:pt x="103" y="1233"/>
                  <a:pt x="62" y="1129"/>
                </a:cubicBezTo>
                <a:cubicBezTo>
                  <a:pt x="21" y="1025"/>
                  <a:pt x="0" y="910"/>
                  <a:pt x="0" y="784"/>
                </a:cubicBezTo>
                <a:cubicBezTo>
                  <a:pt x="0" y="656"/>
                  <a:pt x="23" y="538"/>
                  <a:pt x="69" y="431"/>
                </a:cubicBezTo>
                <a:cubicBezTo>
                  <a:pt x="115" y="323"/>
                  <a:pt x="176" y="239"/>
                  <a:pt x="255" y="181"/>
                </a:cubicBezTo>
                <a:cubicBezTo>
                  <a:pt x="333" y="122"/>
                  <a:pt x="420" y="92"/>
                  <a:pt x="517" y="92"/>
                </a:cubicBezTo>
                <a:cubicBezTo>
                  <a:pt x="599" y="92"/>
                  <a:pt x="672" y="108"/>
                  <a:pt x="735" y="140"/>
                </a:cubicBezTo>
                <a:cubicBezTo>
                  <a:pt x="798" y="172"/>
                  <a:pt x="859" y="221"/>
                  <a:pt x="918" y="289"/>
                </a:cubicBezTo>
                <a:cubicBezTo>
                  <a:pt x="977" y="357"/>
                  <a:pt x="1044" y="455"/>
                  <a:pt x="1120" y="584"/>
                </a:cubicBezTo>
                <a:cubicBezTo>
                  <a:pt x="1190" y="451"/>
                  <a:pt x="1258" y="341"/>
                  <a:pt x="1324" y="254"/>
                </a:cubicBezTo>
                <a:cubicBezTo>
                  <a:pt x="1390" y="167"/>
                  <a:pt x="1460" y="103"/>
                  <a:pt x="1534" y="62"/>
                </a:cubicBezTo>
                <a:cubicBezTo>
                  <a:pt x="1607" y="21"/>
                  <a:pt x="1696" y="0"/>
                  <a:pt x="1800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Rectangle 27">
            <a:extLst>
              <a:ext uri="{FF2B5EF4-FFF2-40B4-BE49-F238E27FC236}">
                <a16:creationId xmlns:a16="http://schemas.microsoft.com/office/drawing/2014/main" id="{7419BBF4-669C-4180-A1B6-DB7399F95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2176" y="679451"/>
            <a:ext cx="3794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L(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Rectangle 28">
            <a:extLst>
              <a:ext uri="{FF2B5EF4-FFF2-40B4-BE49-F238E27FC236}">
                <a16:creationId xmlns:a16="http://schemas.microsoft.com/office/drawing/2014/main" id="{D6952159-F4ED-41B3-8547-AB6665A51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2838" y="679451"/>
            <a:ext cx="1042988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H|data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Rectangle 29">
            <a:extLst>
              <a:ext uri="{FF2B5EF4-FFF2-40B4-BE49-F238E27FC236}">
                <a16:creationId xmlns:a16="http://schemas.microsoft.com/office/drawing/2014/main" id="{C5145F4B-DCAD-4CB3-ACEA-D7D1B30B0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2313" y="679451"/>
            <a:ext cx="25082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Rectangle 30">
            <a:extLst>
              <a:ext uri="{FF2B5EF4-FFF2-40B4-BE49-F238E27FC236}">
                <a16:creationId xmlns:a16="http://schemas.microsoft.com/office/drawing/2014/main" id="{CF43C32C-4374-4CCF-8028-C82B3AD20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1135063"/>
            <a:ext cx="563563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0.0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Rectangle 33">
            <a:extLst>
              <a:ext uri="{FF2B5EF4-FFF2-40B4-BE49-F238E27FC236}">
                <a16:creationId xmlns:a16="http://schemas.microsoft.com/office/drawing/2014/main" id="{F3E7F862-D7CB-4854-A63C-2BB4E3665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1595438"/>
            <a:ext cx="5445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0.1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Rectangle 36">
            <a:extLst>
              <a:ext uri="{FF2B5EF4-FFF2-40B4-BE49-F238E27FC236}">
                <a16:creationId xmlns:a16="http://schemas.microsoft.com/office/drawing/2014/main" id="{94F02EF2-03B4-4ECA-9B17-A1D18B7EE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2052638"/>
            <a:ext cx="5445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0.2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Rectangle 39">
            <a:extLst>
              <a:ext uri="{FF2B5EF4-FFF2-40B4-BE49-F238E27FC236}">
                <a16:creationId xmlns:a16="http://schemas.microsoft.com/office/drawing/2014/main" id="{46733508-7F5C-41E4-A9B4-E069F85D3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2509838"/>
            <a:ext cx="5445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0.3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" name="Rectangle 42">
            <a:extLst>
              <a:ext uri="{FF2B5EF4-FFF2-40B4-BE49-F238E27FC236}">
                <a16:creationId xmlns:a16="http://schemas.microsoft.com/office/drawing/2014/main" id="{E71F4B7A-34C6-42DE-B9E6-57E4DB958B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2967038"/>
            <a:ext cx="5445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0.4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7" name="Rectangle 45">
            <a:extLst>
              <a:ext uri="{FF2B5EF4-FFF2-40B4-BE49-F238E27FC236}">
                <a16:creationId xmlns:a16="http://schemas.microsoft.com/office/drawing/2014/main" id="{9D6640DD-4FFE-43C5-A847-EE2A2ABE1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3422651"/>
            <a:ext cx="5445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0.5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0" name="Rectangle 48">
            <a:extLst>
              <a:ext uri="{FF2B5EF4-FFF2-40B4-BE49-F238E27FC236}">
                <a16:creationId xmlns:a16="http://schemas.microsoft.com/office/drawing/2014/main" id="{3C6DF581-FA95-4C86-A109-C47F972E2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3879851"/>
            <a:ext cx="5445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0.6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3" name="Rectangle 51">
            <a:extLst>
              <a:ext uri="{FF2B5EF4-FFF2-40B4-BE49-F238E27FC236}">
                <a16:creationId xmlns:a16="http://schemas.microsoft.com/office/drawing/2014/main" id="{4C0C2696-D6BA-4217-B634-25C74560C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4337051"/>
            <a:ext cx="563563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0.7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6" name="Rectangle 54">
            <a:extLst>
              <a:ext uri="{FF2B5EF4-FFF2-40B4-BE49-F238E27FC236}">
                <a16:creationId xmlns:a16="http://schemas.microsoft.com/office/drawing/2014/main" id="{6604A715-FB31-44CF-85AE-49FD99C58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4797426"/>
            <a:ext cx="5445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0.8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9" name="Rectangle 57">
            <a:extLst>
              <a:ext uri="{FF2B5EF4-FFF2-40B4-BE49-F238E27FC236}">
                <a16:creationId xmlns:a16="http://schemas.microsoft.com/office/drawing/2014/main" id="{73A25687-A59B-486E-A836-DC935274F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5254626"/>
            <a:ext cx="5445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0.9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2" name="Rectangle 60">
            <a:extLst>
              <a:ext uri="{FF2B5EF4-FFF2-40B4-BE49-F238E27FC236}">
                <a16:creationId xmlns:a16="http://schemas.microsoft.com/office/drawing/2014/main" id="{420BF737-5AAA-4175-896C-A7B61A1F3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5711826"/>
            <a:ext cx="5445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1.0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3C48F-FFC3-F4E3-4725-A6E1114CCAFF}"/>
              </a:ext>
            </a:extLst>
          </p:cNvPr>
          <p:cNvSpPr txBox="1"/>
          <p:nvPr/>
        </p:nvSpPr>
        <p:spPr>
          <a:xfrm>
            <a:off x="1940528" y="1159153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0.0000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C4D725-5F6D-AECA-4AAA-CA1A88946452}"/>
              </a:ext>
            </a:extLst>
          </p:cNvPr>
          <p:cNvSpPr txBox="1"/>
          <p:nvPr/>
        </p:nvSpPr>
        <p:spPr>
          <a:xfrm>
            <a:off x="1924653" y="1598877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0.0036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48751D7-D24D-F8BF-D4E9-3C39211DCB15}"/>
              </a:ext>
            </a:extLst>
          </p:cNvPr>
          <p:cNvSpPr txBox="1"/>
          <p:nvPr/>
        </p:nvSpPr>
        <p:spPr>
          <a:xfrm>
            <a:off x="1908778" y="2051051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0.0256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F164B5-1A9F-71D1-61FB-E11D2B2BAB9B}"/>
              </a:ext>
            </a:extLst>
          </p:cNvPr>
          <p:cNvSpPr txBox="1"/>
          <p:nvPr/>
        </p:nvSpPr>
        <p:spPr>
          <a:xfrm>
            <a:off x="1908778" y="2502457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0.0756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1A8E829-8180-450F-FF04-65CC3ED3949E}"/>
              </a:ext>
            </a:extLst>
          </p:cNvPr>
          <p:cNvSpPr txBox="1"/>
          <p:nvPr/>
        </p:nvSpPr>
        <p:spPr>
          <a:xfrm>
            <a:off x="1906220" y="2966227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0.1536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E817AB-188E-AF9E-8339-622DD7CC6F12}"/>
              </a:ext>
            </a:extLst>
          </p:cNvPr>
          <p:cNvSpPr txBox="1"/>
          <p:nvPr/>
        </p:nvSpPr>
        <p:spPr>
          <a:xfrm>
            <a:off x="1906219" y="3429001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0.2500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3CC272-20DF-0A76-DBAB-A55E3A27B59E}"/>
              </a:ext>
            </a:extLst>
          </p:cNvPr>
          <p:cNvSpPr txBox="1"/>
          <p:nvPr/>
        </p:nvSpPr>
        <p:spPr>
          <a:xfrm>
            <a:off x="1878059" y="3893107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0.3456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DA812F-0B55-62DB-C9BE-B52D90325DEF}"/>
              </a:ext>
            </a:extLst>
          </p:cNvPr>
          <p:cNvSpPr txBox="1"/>
          <p:nvPr/>
        </p:nvSpPr>
        <p:spPr>
          <a:xfrm>
            <a:off x="1906218" y="4369873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0.4116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DF8A11E-B659-2B73-738D-4389FC37AE6E}"/>
              </a:ext>
            </a:extLst>
          </p:cNvPr>
          <p:cNvSpPr txBox="1"/>
          <p:nvPr/>
        </p:nvSpPr>
        <p:spPr>
          <a:xfrm>
            <a:off x="1903660" y="4810126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0.4096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F124134-7F6E-CD75-774D-B6F447CBE69E}"/>
              </a:ext>
            </a:extLst>
          </p:cNvPr>
          <p:cNvSpPr txBox="1"/>
          <p:nvPr/>
        </p:nvSpPr>
        <p:spPr>
          <a:xfrm>
            <a:off x="1875501" y="5233432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0.2916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39A8EAA-263F-5FB9-BC3E-0BA8F0DC1CD5}"/>
              </a:ext>
            </a:extLst>
          </p:cNvPr>
          <p:cNvSpPr txBox="1"/>
          <p:nvPr/>
        </p:nvSpPr>
        <p:spPr>
          <a:xfrm>
            <a:off x="1874648" y="5722695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0.0000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547088-59DE-B813-76B6-30AF7277ADC7}"/>
              </a:ext>
            </a:extLst>
          </p:cNvPr>
          <p:cNvSpPr txBox="1"/>
          <p:nvPr/>
        </p:nvSpPr>
        <p:spPr>
          <a:xfrm>
            <a:off x="3464528" y="1188458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0.0000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990611A-9FE0-92C1-8C0B-3D2DF5695264}"/>
              </a:ext>
            </a:extLst>
          </p:cNvPr>
          <p:cNvSpPr txBox="1"/>
          <p:nvPr/>
        </p:nvSpPr>
        <p:spPr>
          <a:xfrm>
            <a:off x="3448653" y="1628182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0.0036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6903986-A03C-A1FC-CA86-E53018C4C23B}"/>
              </a:ext>
            </a:extLst>
          </p:cNvPr>
          <p:cNvSpPr txBox="1"/>
          <p:nvPr/>
        </p:nvSpPr>
        <p:spPr>
          <a:xfrm>
            <a:off x="3432778" y="2080356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0.0256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86733A7-106E-2EA5-5C9C-3A9F9484598A}"/>
              </a:ext>
            </a:extLst>
          </p:cNvPr>
          <p:cNvSpPr txBox="1"/>
          <p:nvPr/>
        </p:nvSpPr>
        <p:spPr>
          <a:xfrm>
            <a:off x="3432778" y="2531762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0.0756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3E0C2B9-AD82-DFBC-D63A-47A80170FEBB}"/>
              </a:ext>
            </a:extLst>
          </p:cNvPr>
          <p:cNvSpPr txBox="1"/>
          <p:nvPr/>
        </p:nvSpPr>
        <p:spPr>
          <a:xfrm>
            <a:off x="3430220" y="2995532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0.1536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49FE08D-3AD7-E8E2-A7CE-D924FBCAD5A2}"/>
              </a:ext>
            </a:extLst>
          </p:cNvPr>
          <p:cNvSpPr txBox="1"/>
          <p:nvPr/>
        </p:nvSpPr>
        <p:spPr>
          <a:xfrm>
            <a:off x="3430219" y="3458306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0.2500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3C2C0A3-D3C5-F214-4017-95EC2F612CC5}"/>
              </a:ext>
            </a:extLst>
          </p:cNvPr>
          <p:cNvSpPr txBox="1"/>
          <p:nvPr/>
        </p:nvSpPr>
        <p:spPr>
          <a:xfrm>
            <a:off x="3402059" y="3922412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0.3456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4505699-6289-458A-5664-2D2473B83CDA}"/>
              </a:ext>
            </a:extLst>
          </p:cNvPr>
          <p:cNvSpPr txBox="1"/>
          <p:nvPr/>
        </p:nvSpPr>
        <p:spPr>
          <a:xfrm>
            <a:off x="3430218" y="4399178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0.4116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A3C7CED-F05B-065C-7CAE-55BE415F7EC2}"/>
              </a:ext>
            </a:extLst>
          </p:cNvPr>
          <p:cNvSpPr txBox="1"/>
          <p:nvPr/>
        </p:nvSpPr>
        <p:spPr>
          <a:xfrm>
            <a:off x="3427660" y="4839431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0.4096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F62C1CE-994E-9CF0-B3A7-3FEF53522389}"/>
              </a:ext>
            </a:extLst>
          </p:cNvPr>
          <p:cNvSpPr txBox="1"/>
          <p:nvPr/>
        </p:nvSpPr>
        <p:spPr>
          <a:xfrm>
            <a:off x="3399501" y="5262737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0.2916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D3A3172-809E-D0CE-857D-97ADD424200F}"/>
              </a:ext>
            </a:extLst>
          </p:cNvPr>
          <p:cNvSpPr txBox="1"/>
          <p:nvPr/>
        </p:nvSpPr>
        <p:spPr>
          <a:xfrm>
            <a:off x="3398648" y="5752000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0.0000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93608A56-9E85-B4D2-387A-B39D330BA9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849" r="6015"/>
          <a:stretch>
            <a:fillRect/>
          </a:stretch>
        </p:blipFill>
        <p:spPr>
          <a:xfrm>
            <a:off x="5665788" y="2235717"/>
            <a:ext cx="5444172" cy="45969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5F070B8-0864-2A6B-9C4F-0644C84F1CCF}"/>
                  </a:ext>
                </a:extLst>
              </p:cNvPr>
              <p:cNvSpPr txBox="1"/>
              <p:nvPr/>
            </p:nvSpPr>
            <p:spPr>
              <a:xfrm>
                <a:off x="6813415" y="2522487"/>
                <a:ext cx="122822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i="1" smtClean="0">
                              <a:solidFill>
                                <a:srgbClr val="FF8536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rgbClr val="FF8536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en-US" sz="2400" i="1" smtClean="0">
                          <a:solidFill>
                            <a:srgbClr val="FF853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2400" b="0" i="1" smtClean="0">
                          <a:solidFill>
                            <a:srgbClr val="FF853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0.7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5F070B8-0864-2A6B-9C4F-0644C84F1C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3415" y="2522487"/>
                <a:ext cx="1228221" cy="461665"/>
              </a:xfrm>
              <a:prstGeom prst="rect">
                <a:avLst/>
              </a:prstGeom>
              <a:blipFill>
                <a:blip r:embed="rId4"/>
                <a:stretch>
                  <a:fillRect t="-2632"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2413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DC4554C-40CB-DC0D-0EBA-404D0B3297A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Likelihood Profile from our 5 plant dataset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92D2BC-F81B-9A36-96CC-325BF45925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158"/>
          <a:stretch>
            <a:fillRect/>
          </a:stretch>
        </p:blipFill>
        <p:spPr>
          <a:xfrm>
            <a:off x="61401" y="1428219"/>
            <a:ext cx="6210398" cy="49607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BBF5DB-5009-C89E-2E6F-612F448B3A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656" r="4397"/>
          <a:stretch>
            <a:fillRect/>
          </a:stretch>
        </p:blipFill>
        <p:spPr>
          <a:xfrm>
            <a:off x="6285867" y="1428219"/>
            <a:ext cx="5802528" cy="500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405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87E2FF5-2D24-38B1-4D02-0C54DB907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153" y="1558579"/>
            <a:ext cx="6042211" cy="39843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70AE09-61DA-0612-AA79-D0A07794E12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Likelihood Surface = contour plot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E7808E-7882-9D36-CE68-BE3FE1E811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1678" y="1558579"/>
            <a:ext cx="6180322" cy="407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085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4303</TotalTime>
  <Words>586</Words>
  <Application>Microsoft Macintosh PowerPoint</Application>
  <PresentationFormat>Widescreen</PresentationFormat>
  <Paragraphs>174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Cambria</vt:lpstr>
      <vt:lpstr>Cambria Math</vt:lpstr>
      <vt:lpstr>Office Theme</vt:lpstr>
      <vt:lpstr>Likelihood Profiles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Crone, Elizabeth Ellen</dc:creator>
  <cp:lastModifiedBy>Brown, Lee - brown8lm</cp:lastModifiedBy>
  <cp:revision>89</cp:revision>
  <dcterms:created xsi:type="dcterms:W3CDTF">2021-03-03T22:02:34Z</dcterms:created>
  <dcterms:modified xsi:type="dcterms:W3CDTF">2025-09-10T19:12:17Z</dcterms:modified>
</cp:coreProperties>
</file>